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Cambria Bold" charset="1" panose="02040803050406030204"/>
      <p:regular r:id="rId25"/>
    </p:embeddedFont>
    <p:embeddedFont>
      <p:font typeface="Georgia" charset="1" panose="02040502050405020303"/>
      <p:regular r:id="rId26"/>
    </p:embeddedFont>
    <p:embeddedFont>
      <p:font typeface="Times New Roman Bold" charset="1" panose="02020803070505020304"/>
      <p:regular r:id="rId27"/>
    </p:embeddedFont>
    <p:embeddedFont>
      <p:font typeface="Times New Roman" charset="1" panose="020206030504050203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2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3.xml" Type="http://schemas.openxmlformats.org/officeDocument/2006/relationships/notesSlide"/><Relationship Id="rId31" Target="notesSlides/notesSlide4.xml" Type="http://schemas.openxmlformats.org/officeDocument/2006/relationships/notesSlide"/><Relationship Id="rId32" Target="notesSlides/notesSlide5.xml" Type="http://schemas.openxmlformats.org/officeDocument/2006/relationships/notesSlide"/><Relationship Id="rId33" Target="notesSlides/notesSlide6.xml" Type="http://schemas.openxmlformats.org/officeDocument/2006/relationships/notesSlide"/><Relationship Id="rId34" Target="notesSlides/notesSlide7.xml" Type="http://schemas.openxmlformats.org/officeDocument/2006/relationships/notesSlide"/><Relationship Id="rId35" Target="notesSlides/notesSlide8.xml" Type="http://schemas.openxmlformats.org/officeDocument/2006/relationships/notesSlide"/><Relationship Id="rId36" Target="notesSlides/notesSlide9.xml" Type="http://schemas.openxmlformats.org/officeDocument/2006/relationships/notesSlide"/><Relationship Id="rId37" Target="notesSlides/notesSlide10.xml" Type="http://schemas.openxmlformats.org/officeDocument/2006/relationships/notesSlide"/><Relationship Id="rId38" Target="notesSlides/notesSlide11.xml" Type="http://schemas.openxmlformats.org/officeDocument/2006/relationships/notesSlide"/><Relationship Id="rId39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3.png" Type="http://schemas.openxmlformats.org/officeDocument/2006/relationships/image"/><Relationship Id="rId7" Target="../media/image4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9905" cy="10287286"/>
          </a:xfrm>
          <a:custGeom>
            <a:avLst/>
            <a:gdLst/>
            <a:ahLst/>
            <a:cxnLst/>
            <a:rect r="r" b="b" t="t" l="l"/>
            <a:pathLst>
              <a:path h="10287286" w="18289905">
                <a:moveTo>
                  <a:pt x="0" y="0"/>
                </a:moveTo>
                <a:lnTo>
                  <a:pt x="18289905" y="0"/>
                </a:lnTo>
                <a:lnTo>
                  <a:pt x="18289905" y="10287286"/>
                </a:lnTo>
                <a:lnTo>
                  <a:pt x="0" y="102872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4" r="0" b="-24"/>
            </a:stretch>
          </a:blipFill>
        </p:spPr>
      </p:sp>
      <p:sp>
        <p:nvSpPr>
          <p:cNvPr name="TextBox 3" id="3" descr="$PPTXTitle"/>
          <p:cNvSpPr txBox="true"/>
          <p:nvPr/>
        </p:nvSpPr>
        <p:spPr>
          <a:xfrm rot="0">
            <a:off x="4825470" y="1896618"/>
            <a:ext cx="8935088" cy="915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6"/>
              </a:lnSpc>
            </a:pPr>
            <a:r>
              <a:rPr lang="en-US" sz="5598" b="true">
                <a:solidFill>
                  <a:srgbClr val="1A1A1A"/>
                </a:solidFill>
                <a:latin typeface="Cambria Bold"/>
                <a:ea typeface="Cambria Bold"/>
                <a:cs typeface="Cambria Bold"/>
                <a:sym typeface="Cambria Bold"/>
              </a:rPr>
              <a:t>Navyug Vidyabhavan Trust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96449" y="197796"/>
            <a:ext cx="2257711" cy="2166556"/>
            <a:chOff x="0" y="0"/>
            <a:chExt cx="3010281" cy="28887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10281" cy="2888742"/>
            </a:xfrm>
            <a:custGeom>
              <a:avLst/>
              <a:gdLst/>
              <a:ahLst/>
              <a:cxnLst/>
              <a:rect r="r" b="b" t="t" l="l"/>
              <a:pathLst>
                <a:path h="2888742" w="3010281">
                  <a:moveTo>
                    <a:pt x="0" y="0"/>
                  </a:moveTo>
                  <a:lnTo>
                    <a:pt x="3010281" y="0"/>
                  </a:lnTo>
                  <a:lnTo>
                    <a:pt x="3010281" y="2888742"/>
                  </a:lnTo>
                  <a:lnTo>
                    <a:pt x="0" y="28887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23" t="0" r="-22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405202" y="197796"/>
            <a:ext cx="2051971" cy="2028158"/>
            <a:chOff x="0" y="0"/>
            <a:chExt cx="2735961" cy="27042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35961" cy="2704211"/>
            </a:xfrm>
            <a:custGeom>
              <a:avLst/>
              <a:gdLst/>
              <a:ahLst/>
              <a:cxnLst/>
              <a:rect r="r" b="b" t="t" l="l"/>
              <a:pathLst>
                <a:path h="2704211" w="2735961">
                  <a:moveTo>
                    <a:pt x="0" y="0"/>
                  </a:moveTo>
                  <a:lnTo>
                    <a:pt x="2735961" y="0"/>
                  </a:lnTo>
                  <a:lnTo>
                    <a:pt x="2735961" y="2704211"/>
                  </a:lnTo>
                  <a:lnTo>
                    <a:pt x="0" y="27042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84" r="0" b="-183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617281" y="3154147"/>
            <a:ext cx="11351257" cy="164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1A1A1A"/>
                </a:solidFill>
                <a:latin typeface="Cambria Bold"/>
                <a:ea typeface="Cambria Bold"/>
                <a:cs typeface="Cambria Bold"/>
                <a:sym typeface="Cambria Bold"/>
              </a:rPr>
              <a:t>C. K. Pithawala College of Engg. &amp; Tech.</a:t>
            </a:r>
          </a:p>
          <a:p>
            <a:pPr algn="l">
              <a:lnSpc>
                <a:spcPts val="2475"/>
              </a:lnSpc>
            </a:pPr>
          </a:p>
          <a:p>
            <a:pPr algn="ctr">
              <a:lnSpc>
                <a:spcPts val="4918"/>
              </a:lnSpc>
            </a:pPr>
            <a:r>
              <a:rPr lang="en-US" sz="4098">
                <a:solidFill>
                  <a:srgbClr val="1A9987"/>
                </a:solidFill>
                <a:latin typeface="Georgia"/>
                <a:ea typeface="Georgia"/>
                <a:cs typeface="Georgia"/>
                <a:sym typeface="Georgia"/>
              </a:rPr>
              <a:t>Healthcare Analytics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77405" y="7753702"/>
            <a:ext cx="8681895" cy="255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43724" indent="-285931" lvl="3">
              <a:lnSpc>
                <a:spcPts val="3358"/>
              </a:lnSpc>
              <a:buFont typeface="Arial"/>
              <a:buChar char="￭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</a:t>
            </a:r>
          </a:p>
          <a:p>
            <a:pPr algn="l" marL="1697867" indent="-339573" lvl="4">
              <a:lnSpc>
                <a:spcPts val="3358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Om Koradia — 240090107070(DIV-C)</a:t>
            </a:r>
          </a:p>
          <a:p>
            <a:pPr algn="l" marL="1697867" indent="-339573" lvl="4">
              <a:lnSpc>
                <a:spcPts val="3358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Meetrajsinh Vala — 240090107087(DIV-C)</a:t>
            </a:r>
          </a:p>
          <a:p>
            <a:pPr algn="l" marL="1697867" indent="-339573" lvl="4">
              <a:lnSpc>
                <a:spcPts val="3358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Jeel Moradiya — 240090107097(DIV-C)</a:t>
            </a:r>
          </a:p>
          <a:p>
            <a:pPr algn="l" marL="1697867" indent="-339573" lvl="4">
              <a:lnSpc>
                <a:spcPts val="3358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Daksh Rana — 240090107175(DIV-C</a:t>
            </a:r>
          </a:p>
          <a:p>
            <a:pPr algn="l" marL="1697867" indent="-339573" lvl="4">
              <a:lnSpc>
                <a:spcPts val="3358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5244894" y="5125812"/>
            <a:ext cx="780011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8"/>
              </a:lnSpc>
            </a:pPr>
            <a:r>
              <a:rPr lang="en-US" sz="3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PDS CIPAT PRESENTATION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8652" y="8229619"/>
            <a:ext cx="4011016" cy="1028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Faculty Guide</a:t>
            </a:r>
          </a:p>
          <a:p>
            <a:pPr algn="ctr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Prof. Rakesh Katariya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952" cy="1702784"/>
            <a:chOff x="0" y="0"/>
            <a:chExt cx="24379936" cy="22703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937" cy="2270379"/>
            </a:xfrm>
            <a:custGeom>
              <a:avLst/>
              <a:gdLst/>
              <a:ahLst/>
              <a:cxnLst/>
              <a:rect r="r" b="b" t="t" l="l"/>
              <a:pathLst>
                <a:path h="2270379" w="24379937">
                  <a:moveTo>
                    <a:pt x="24379937" y="2270379"/>
                  </a:moveTo>
                  <a:lnTo>
                    <a:pt x="0" y="2270379"/>
                  </a:lnTo>
                  <a:lnTo>
                    <a:pt x="0" y="0"/>
                  </a:lnTo>
                  <a:lnTo>
                    <a:pt x="24379937" y="0"/>
                  </a:lnTo>
                  <a:lnTo>
                    <a:pt x="24379937" y="2270379"/>
                  </a:lnTo>
                  <a:close/>
                </a:path>
              </a:pathLst>
            </a:custGeom>
            <a:solidFill>
              <a:srgbClr val="E8EC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404948" y="188843"/>
            <a:ext cx="747617" cy="91916"/>
            <a:chOff x="0" y="0"/>
            <a:chExt cx="996823" cy="1225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96823" cy="122555"/>
            </a:xfrm>
            <a:custGeom>
              <a:avLst/>
              <a:gdLst/>
              <a:ahLst/>
              <a:cxnLst/>
              <a:rect r="r" b="b" t="t" l="l"/>
              <a:pathLst>
                <a:path h="122555" w="996823">
                  <a:moveTo>
                    <a:pt x="996823" y="122555"/>
                  </a:moveTo>
                  <a:lnTo>
                    <a:pt x="0" y="122555"/>
                  </a:lnTo>
                  <a:lnTo>
                    <a:pt x="0" y="0"/>
                  </a:lnTo>
                  <a:lnTo>
                    <a:pt x="996823" y="0"/>
                  </a:lnTo>
                  <a:lnTo>
                    <a:pt x="996823" y="122555"/>
                  </a:lnTo>
                  <a:close/>
                </a:path>
              </a:pathLst>
            </a:custGeom>
            <a:solidFill>
              <a:srgbClr val="EB56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57188" y="188843"/>
            <a:ext cx="753999" cy="91916"/>
            <a:chOff x="0" y="0"/>
            <a:chExt cx="1005332" cy="1225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5332" cy="122555"/>
            </a:xfrm>
            <a:custGeom>
              <a:avLst/>
              <a:gdLst/>
              <a:ahLst/>
              <a:cxnLst/>
              <a:rect r="r" b="b" t="t" l="l"/>
              <a:pathLst>
                <a:path h="122555" w="1005332">
                  <a:moveTo>
                    <a:pt x="1005332" y="122555"/>
                  </a:moveTo>
                  <a:lnTo>
                    <a:pt x="0" y="122555"/>
                  </a:lnTo>
                  <a:lnTo>
                    <a:pt x="0" y="0"/>
                  </a:lnTo>
                  <a:lnTo>
                    <a:pt x="1005332" y="0"/>
                  </a:lnTo>
                  <a:lnTo>
                    <a:pt x="1005332" y="122555"/>
                  </a:lnTo>
                  <a:close/>
                </a:path>
              </a:pathLst>
            </a:custGeom>
            <a:solidFill>
              <a:srgbClr val="1A9987"/>
            </a:solidFill>
          </p:spPr>
        </p:sp>
      </p:grpSp>
      <p:sp>
        <p:nvSpPr>
          <p:cNvPr name="TextBox 8" id="8" descr="$PPTXTitle"/>
          <p:cNvSpPr txBox="true"/>
          <p:nvPr/>
        </p:nvSpPr>
        <p:spPr>
          <a:xfrm rot="0">
            <a:off x="1534030" y="251946"/>
            <a:ext cx="10314937" cy="1057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6"/>
              </a:lnSpc>
            </a:pPr>
            <a:r>
              <a:rPr lang="en-US" sz="5598" b="true">
                <a:solidFill>
                  <a:srgbClr val="1A1A1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Outline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324564" y="1743085"/>
            <a:ext cx="11176368" cy="85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60192" indent="-193365" lvl="5">
              <a:lnSpc>
                <a:spcPts val="3840"/>
              </a:lnSpc>
              <a:buFont typeface="Arial"/>
              <a:buChar char="⚬"/>
            </a:pPr>
            <a:r>
              <a:rPr lang="en-US" sz="32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Healthcare Analytics</a:t>
            </a:r>
          </a:p>
          <a:p>
            <a:pPr algn="l" marL="1160212" indent="-193369" lvl="5">
              <a:lnSpc>
                <a:spcPts val="3840"/>
              </a:lnSpc>
              <a:buFont typeface="Arial"/>
              <a:buChar char="⚬"/>
            </a:pPr>
            <a:r>
              <a:rPr lang="en-US" sz="32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</a:p>
          <a:p>
            <a:pPr algn="l" marL="1160192" indent="-193365" lvl="5">
              <a:lnSpc>
                <a:spcPts val="3840"/>
              </a:lnSpc>
              <a:buFont typeface="Arial"/>
              <a:buChar char="⚬"/>
            </a:pPr>
            <a:r>
              <a:rPr lang="en-US" sz="32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</a:p>
          <a:p>
            <a:pPr algn="l" marL="1160192" indent="-193365" lvl="5">
              <a:lnSpc>
                <a:spcPts val="3840"/>
              </a:lnSpc>
              <a:buFont typeface="Arial"/>
              <a:buChar char="⚬"/>
            </a:pPr>
            <a:r>
              <a:rPr lang="en-US" sz="32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Healthcare Dataset</a:t>
            </a:r>
          </a:p>
          <a:p>
            <a:pPr algn="l" marL="1160212" indent="-193369" lvl="5">
              <a:lnSpc>
                <a:spcPts val="3840"/>
              </a:lnSpc>
              <a:buFont typeface="Arial"/>
              <a:buChar char="⚬"/>
            </a:pPr>
            <a:r>
              <a:rPr lang="en-US" sz="32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&amp; Technologies Used</a:t>
            </a:r>
          </a:p>
          <a:p>
            <a:pPr algn="l" marL="1160273" indent="-193379" lvl="5">
              <a:lnSpc>
                <a:spcPts val="3840"/>
              </a:lnSpc>
              <a:buFont typeface="Arial"/>
              <a:buChar char="⚬"/>
            </a:pPr>
            <a:r>
              <a:rPr lang="en-US" sz="32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Cleaning &amp; Preprocessing</a:t>
            </a:r>
          </a:p>
          <a:p>
            <a:pPr algn="l" marL="1160273" indent="-193379" lvl="5">
              <a:lnSpc>
                <a:spcPts val="3840"/>
              </a:lnSpc>
              <a:buFont typeface="Arial"/>
              <a:buChar char="⚬"/>
            </a:pPr>
            <a:r>
              <a:rPr lang="en-US" sz="32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 &amp; Department Analysis</a:t>
            </a:r>
          </a:p>
          <a:p>
            <a:pPr algn="l" marL="1160192" indent="-193365" lvl="5">
              <a:lnSpc>
                <a:spcPts val="3840"/>
              </a:lnSpc>
              <a:buFont typeface="Arial"/>
              <a:buChar char="⚬"/>
            </a:pPr>
            <a:r>
              <a:rPr lang="en-US" sz="32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Treatment, Visit &amp; Cost Analysis</a:t>
            </a:r>
          </a:p>
          <a:p>
            <a:pPr algn="l" marL="1160192" indent="-193365" lvl="5">
              <a:lnSpc>
                <a:spcPts val="3840"/>
              </a:lnSpc>
              <a:buFont typeface="Arial"/>
              <a:buChar char="⚬"/>
            </a:pPr>
            <a:r>
              <a:rPr lang="en-US" sz="32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Visualization</a:t>
            </a:r>
          </a:p>
          <a:p>
            <a:pPr algn="l" marL="1160192" indent="-193365" lvl="5">
              <a:lnSpc>
                <a:spcPts val="3840"/>
              </a:lnSpc>
              <a:buFont typeface="Arial"/>
              <a:buChar char="⚬"/>
            </a:pPr>
            <a:r>
              <a:rPr lang="en-US" sz="32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Statistical Analysis</a:t>
            </a:r>
          </a:p>
          <a:p>
            <a:pPr algn="l" marL="1160212" indent="-193369" lvl="5">
              <a:lnSpc>
                <a:spcPts val="3840"/>
              </a:lnSpc>
              <a:buFont typeface="Arial"/>
              <a:buChar char="⚬"/>
            </a:pPr>
            <a:r>
              <a:rPr lang="en-US" sz="32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for Prediction</a:t>
            </a:r>
          </a:p>
          <a:p>
            <a:pPr algn="l" marL="1160192" indent="-193365" lvl="5">
              <a:lnSpc>
                <a:spcPts val="3840"/>
              </a:lnSpc>
              <a:buFont typeface="Arial"/>
              <a:buChar char="⚬"/>
            </a:pPr>
            <a:r>
              <a:rPr lang="en-US" sz="32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&amp; Findings</a:t>
            </a:r>
          </a:p>
          <a:p>
            <a:pPr algn="l" marL="1160273" indent="-193379" lvl="5">
              <a:lnSpc>
                <a:spcPts val="3840"/>
              </a:lnSpc>
              <a:buFont typeface="Arial"/>
              <a:buChar char="⚬"/>
            </a:pPr>
            <a:r>
              <a:rPr lang="en-US" sz="32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 &amp; Future Scope</a:t>
            </a:r>
          </a:p>
          <a:p>
            <a:pPr algn="l" marL="1160192" indent="-193365" lvl="5">
              <a:lnSpc>
                <a:spcPts val="3840"/>
              </a:lnSpc>
              <a:buFont typeface="Arial"/>
              <a:buChar char="⚬"/>
            </a:pPr>
            <a:r>
              <a:rPr lang="en-US" sz="32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</a:p>
          <a:p>
            <a:pPr algn="l" marL="1160192" indent="-193365" lvl="5">
              <a:lnSpc>
                <a:spcPts val="3840"/>
              </a:lnSpc>
            </a:pPr>
          </a:p>
          <a:p>
            <a:pPr algn="l" marL="1160192" indent="-193365" lvl="5">
              <a:lnSpc>
                <a:spcPts val="4798"/>
              </a:lnSpc>
            </a:pPr>
          </a:p>
          <a:p>
            <a:pPr algn="l" marL="1160192" indent="-193365" lvl="5">
              <a:lnSpc>
                <a:spcPts val="4798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-111709" y="98898"/>
            <a:ext cx="1568577" cy="1505236"/>
            <a:chOff x="0" y="0"/>
            <a:chExt cx="2091436" cy="20069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91436" cy="2006981"/>
            </a:xfrm>
            <a:custGeom>
              <a:avLst/>
              <a:gdLst/>
              <a:ahLst/>
              <a:cxnLst/>
              <a:rect r="r" b="b" t="t" l="l"/>
              <a:pathLst>
                <a:path h="2006981" w="2091436">
                  <a:moveTo>
                    <a:pt x="0" y="0"/>
                  </a:moveTo>
                  <a:lnTo>
                    <a:pt x="2091436" y="0"/>
                  </a:lnTo>
                  <a:lnTo>
                    <a:pt x="2091436" y="2006981"/>
                  </a:lnTo>
                  <a:lnTo>
                    <a:pt x="0" y="2006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22" t="0" r="-223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719480" y="0"/>
            <a:ext cx="1566005" cy="1547812"/>
            <a:chOff x="0" y="0"/>
            <a:chExt cx="2088007" cy="20637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88007" cy="2063750"/>
            </a:xfrm>
            <a:custGeom>
              <a:avLst/>
              <a:gdLst/>
              <a:ahLst/>
              <a:cxnLst/>
              <a:rect r="r" b="b" t="t" l="l"/>
              <a:pathLst>
                <a:path h="2063750" w="2088007">
                  <a:moveTo>
                    <a:pt x="0" y="0"/>
                  </a:moveTo>
                  <a:lnTo>
                    <a:pt x="2088007" y="0"/>
                  </a:lnTo>
                  <a:lnTo>
                    <a:pt x="2088007" y="2063750"/>
                  </a:lnTo>
                  <a:lnTo>
                    <a:pt x="0" y="2063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84" r="0" b="-184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952" cy="1702784"/>
            <a:chOff x="0" y="0"/>
            <a:chExt cx="24379936" cy="22703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937" cy="2270379"/>
            </a:xfrm>
            <a:custGeom>
              <a:avLst/>
              <a:gdLst/>
              <a:ahLst/>
              <a:cxnLst/>
              <a:rect r="r" b="b" t="t" l="l"/>
              <a:pathLst>
                <a:path h="2270379" w="24379937">
                  <a:moveTo>
                    <a:pt x="24379937" y="2270379"/>
                  </a:moveTo>
                  <a:lnTo>
                    <a:pt x="0" y="2270379"/>
                  </a:lnTo>
                  <a:lnTo>
                    <a:pt x="0" y="0"/>
                  </a:lnTo>
                  <a:lnTo>
                    <a:pt x="24379937" y="0"/>
                  </a:lnTo>
                  <a:lnTo>
                    <a:pt x="24379937" y="2270379"/>
                  </a:lnTo>
                  <a:close/>
                </a:path>
              </a:pathLst>
            </a:custGeom>
            <a:solidFill>
              <a:srgbClr val="E8EC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404948" y="188843"/>
            <a:ext cx="747617" cy="91916"/>
            <a:chOff x="0" y="0"/>
            <a:chExt cx="996823" cy="1225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96823" cy="122555"/>
            </a:xfrm>
            <a:custGeom>
              <a:avLst/>
              <a:gdLst/>
              <a:ahLst/>
              <a:cxnLst/>
              <a:rect r="r" b="b" t="t" l="l"/>
              <a:pathLst>
                <a:path h="122555" w="996823">
                  <a:moveTo>
                    <a:pt x="996823" y="122555"/>
                  </a:moveTo>
                  <a:lnTo>
                    <a:pt x="0" y="122555"/>
                  </a:lnTo>
                  <a:lnTo>
                    <a:pt x="0" y="0"/>
                  </a:lnTo>
                  <a:lnTo>
                    <a:pt x="996823" y="0"/>
                  </a:lnTo>
                  <a:lnTo>
                    <a:pt x="996823" y="122555"/>
                  </a:lnTo>
                  <a:close/>
                </a:path>
              </a:pathLst>
            </a:custGeom>
            <a:solidFill>
              <a:srgbClr val="EB56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57188" y="188843"/>
            <a:ext cx="753999" cy="91916"/>
            <a:chOff x="0" y="0"/>
            <a:chExt cx="1005332" cy="1225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5332" cy="122555"/>
            </a:xfrm>
            <a:custGeom>
              <a:avLst/>
              <a:gdLst/>
              <a:ahLst/>
              <a:cxnLst/>
              <a:rect r="r" b="b" t="t" l="l"/>
              <a:pathLst>
                <a:path h="122555" w="1005332">
                  <a:moveTo>
                    <a:pt x="1005332" y="122555"/>
                  </a:moveTo>
                  <a:lnTo>
                    <a:pt x="0" y="122555"/>
                  </a:lnTo>
                  <a:lnTo>
                    <a:pt x="0" y="0"/>
                  </a:lnTo>
                  <a:lnTo>
                    <a:pt x="1005332" y="0"/>
                  </a:lnTo>
                  <a:lnTo>
                    <a:pt x="1005332" y="122555"/>
                  </a:lnTo>
                  <a:close/>
                </a:path>
              </a:pathLst>
            </a:custGeom>
            <a:solidFill>
              <a:srgbClr val="1A998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11709" y="98898"/>
            <a:ext cx="1568577" cy="1505236"/>
            <a:chOff x="0" y="0"/>
            <a:chExt cx="2091436" cy="20069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91436" cy="2006981"/>
            </a:xfrm>
            <a:custGeom>
              <a:avLst/>
              <a:gdLst/>
              <a:ahLst/>
              <a:cxnLst/>
              <a:rect r="r" b="b" t="t" l="l"/>
              <a:pathLst>
                <a:path h="2006981" w="2091436">
                  <a:moveTo>
                    <a:pt x="0" y="0"/>
                  </a:moveTo>
                  <a:lnTo>
                    <a:pt x="2091436" y="0"/>
                  </a:lnTo>
                  <a:lnTo>
                    <a:pt x="2091436" y="2006981"/>
                  </a:lnTo>
                  <a:lnTo>
                    <a:pt x="0" y="2006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22" t="0" r="-223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719480" y="0"/>
            <a:ext cx="1566005" cy="1547812"/>
            <a:chOff x="0" y="0"/>
            <a:chExt cx="2088007" cy="20637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88007" cy="2063750"/>
            </a:xfrm>
            <a:custGeom>
              <a:avLst/>
              <a:gdLst/>
              <a:ahLst/>
              <a:cxnLst/>
              <a:rect r="r" b="b" t="t" l="l"/>
              <a:pathLst>
                <a:path h="2063750" w="2088007">
                  <a:moveTo>
                    <a:pt x="0" y="0"/>
                  </a:moveTo>
                  <a:lnTo>
                    <a:pt x="2088007" y="0"/>
                  </a:lnTo>
                  <a:lnTo>
                    <a:pt x="2088007" y="2063750"/>
                  </a:lnTo>
                  <a:lnTo>
                    <a:pt x="0" y="2063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84" r="0" b="-184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0" y="1645634"/>
            <a:ext cx="9144000" cy="7658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2837" indent="-274279" lvl="2">
              <a:lnSpc>
                <a:spcPts val="4315"/>
              </a:lnSpc>
              <a:buFont typeface="Arial"/>
              <a:buChar char="⚬"/>
            </a:pPr>
            <a:r>
              <a:rPr lang="en-US" b="true" sz="3599">
                <a:solidFill>
                  <a:srgbClr val="1A1A1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is Healthcare Analytics?</a:t>
            </a:r>
          </a:p>
          <a:p>
            <a:pPr algn="l" marL="822837" indent="-274279" lvl="2">
              <a:lnSpc>
                <a:spcPts val="4318"/>
              </a:lnSpc>
              <a:buFont typeface="Arial"/>
              <a:buChar char="⚬"/>
            </a:pPr>
            <a:r>
              <a:rPr lang="en-US" sz="3599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Healthcare generates a large amount of patient data.</a:t>
            </a:r>
          </a:p>
          <a:p>
            <a:pPr algn="l" marL="822837" indent="-274279" lvl="2">
              <a:lnSpc>
                <a:spcPts val="4315"/>
              </a:lnSpc>
              <a:buFont typeface="Arial"/>
              <a:buChar char="⚬"/>
            </a:pPr>
            <a:r>
              <a:rPr lang="en-US" sz="3599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data contains information about:</a:t>
            </a:r>
          </a:p>
          <a:p>
            <a:pPr algn="l" marL="1470528" indent="-367632" lvl="3">
              <a:lnSpc>
                <a:spcPts val="4315"/>
              </a:lnSpc>
              <a:buFont typeface="Arial"/>
              <a:buChar char="￭"/>
            </a:pPr>
            <a:r>
              <a:rPr lang="en-US" sz="3599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Patients</a:t>
            </a:r>
          </a:p>
          <a:p>
            <a:pPr algn="l" marL="1470528" indent="-367632" lvl="3">
              <a:lnSpc>
                <a:spcPts val="4315"/>
              </a:lnSpc>
              <a:buFont typeface="Arial"/>
              <a:buChar char="￭"/>
            </a:pPr>
            <a:r>
              <a:rPr lang="en-US" sz="3599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Treatments</a:t>
            </a:r>
          </a:p>
          <a:p>
            <a:pPr algn="l" marL="1470528" indent="-367632" lvl="3">
              <a:lnSpc>
                <a:spcPts val="4315"/>
              </a:lnSpc>
              <a:buFont typeface="Arial"/>
              <a:buChar char="￭"/>
            </a:pPr>
            <a:r>
              <a:rPr lang="en-US" sz="3599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Hospital departments</a:t>
            </a:r>
          </a:p>
          <a:p>
            <a:pPr algn="l" marL="1470528" indent="-367632" lvl="3">
              <a:lnSpc>
                <a:spcPts val="4318"/>
              </a:lnSpc>
              <a:buFont typeface="Arial"/>
              <a:buChar char="￭"/>
            </a:pPr>
            <a:r>
              <a:rPr lang="en-US" sz="3599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Visits</a:t>
            </a:r>
          </a:p>
          <a:p>
            <a:pPr algn="l" marL="1470528" indent="-367632" lvl="3">
              <a:lnSpc>
                <a:spcPts val="4315"/>
              </a:lnSpc>
              <a:buFont typeface="Arial"/>
              <a:buChar char="￭"/>
            </a:pPr>
            <a:r>
              <a:rPr lang="en-US" sz="3599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Hospital stays</a:t>
            </a:r>
          </a:p>
          <a:p>
            <a:pPr algn="l" marL="1470528" indent="-367632" lvl="3">
              <a:lnSpc>
                <a:spcPts val="4318"/>
              </a:lnSpc>
              <a:buFont typeface="Arial"/>
              <a:buChar char="￭"/>
            </a:pPr>
            <a:r>
              <a:rPr lang="en-US" sz="3599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Treatment costs</a:t>
            </a:r>
          </a:p>
          <a:p>
            <a:pPr algn="l" marL="822837" indent="-274279" lvl="2">
              <a:lnSpc>
                <a:spcPts val="4315"/>
              </a:lnSpc>
              <a:buFont typeface="Arial"/>
              <a:buChar char="⚬"/>
            </a:pPr>
            <a:r>
              <a:rPr lang="en-US" sz="3599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can be used to convert this raw data into meaningful information.</a:t>
            </a:r>
          </a:p>
          <a:p>
            <a:pPr algn="l" marL="822837" indent="-274279" lvl="2">
              <a:lnSpc>
                <a:spcPts val="4315"/>
              </a:lnSpc>
              <a:buFont typeface="Arial"/>
              <a:buChar char="⚬"/>
            </a:pPr>
            <a:r>
              <a:rPr lang="en-US" sz="3599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project analyzes 5,000 patient records with 10 columns.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21638" y="1702784"/>
            <a:ext cx="8391354" cy="5552846"/>
            <a:chOff x="0" y="0"/>
            <a:chExt cx="11188471" cy="74037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188446" cy="7403846"/>
            </a:xfrm>
            <a:custGeom>
              <a:avLst/>
              <a:gdLst/>
              <a:ahLst/>
              <a:cxnLst/>
              <a:rect r="r" b="b" t="t" l="l"/>
              <a:pathLst>
                <a:path h="7403846" w="11188446">
                  <a:moveTo>
                    <a:pt x="0" y="0"/>
                  </a:moveTo>
                  <a:lnTo>
                    <a:pt x="11188446" y="0"/>
                  </a:lnTo>
                  <a:lnTo>
                    <a:pt x="11188446" y="7403846"/>
                  </a:lnTo>
                  <a:lnTo>
                    <a:pt x="0" y="7403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5" id="15" descr="$PPTXTitle"/>
          <p:cNvSpPr txBox="true"/>
          <p:nvPr/>
        </p:nvSpPr>
        <p:spPr>
          <a:xfrm rot="0">
            <a:off x="1534030" y="159363"/>
            <a:ext cx="11290192" cy="924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6"/>
              </a:lnSpc>
            </a:pPr>
            <a:r>
              <a:rPr lang="en-US" sz="5598" b="true">
                <a:solidFill>
                  <a:srgbClr val="1A1A1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 to Healthcare Analytics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952" cy="1702784"/>
            <a:chOff x="0" y="0"/>
            <a:chExt cx="24379936" cy="22703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937" cy="2270379"/>
            </a:xfrm>
            <a:custGeom>
              <a:avLst/>
              <a:gdLst/>
              <a:ahLst/>
              <a:cxnLst/>
              <a:rect r="r" b="b" t="t" l="l"/>
              <a:pathLst>
                <a:path h="2270379" w="24379937">
                  <a:moveTo>
                    <a:pt x="24379937" y="2270379"/>
                  </a:moveTo>
                  <a:lnTo>
                    <a:pt x="0" y="2270379"/>
                  </a:lnTo>
                  <a:lnTo>
                    <a:pt x="0" y="0"/>
                  </a:lnTo>
                  <a:lnTo>
                    <a:pt x="24379937" y="0"/>
                  </a:lnTo>
                  <a:lnTo>
                    <a:pt x="24379937" y="2270379"/>
                  </a:lnTo>
                  <a:close/>
                </a:path>
              </a:pathLst>
            </a:custGeom>
            <a:solidFill>
              <a:srgbClr val="E8EC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404948" y="188843"/>
            <a:ext cx="747617" cy="91916"/>
            <a:chOff x="0" y="0"/>
            <a:chExt cx="996823" cy="1225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96823" cy="122555"/>
            </a:xfrm>
            <a:custGeom>
              <a:avLst/>
              <a:gdLst/>
              <a:ahLst/>
              <a:cxnLst/>
              <a:rect r="r" b="b" t="t" l="l"/>
              <a:pathLst>
                <a:path h="122555" w="996823">
                  <a:moveTo>
                    <a:pt x="996823" y="122555"/>
                  </a:moveTo>
                  <a:lnTo>
                    <a:pt x="0" y="122555"/>
                  </a:lnTo>
                  <a:lnTo>
                    <a:pt x="0" y="0"/>
                  </a:lnTo>
                  <a:lnTo>
                    <a:pt x="996823" y="0"/>
                  </a:lnTo>
                  <a:lnTo>
                    <a:pt x="996823" y="122555"/>
                  </a:lnTo>
                  <a:close/>
                </a:path>
              </a:pathLst>
            </a:custGeom>
            <a:solidFill>
              <a:srgbClr val="EB56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57188" y="188843"/>
            <a:ext cx="753999" cy="91916"/>
            <a:chOff x="0" y="0"/>
            <a:chExt cx="1005332" cy="1225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5332" cy="122555"/>
            </a:xfrm>
            <a:custGeom>
              <a:avLst/>
              <a:gdLst/>
              <a:ahLst/>
              <a:cxnLst/>
              <a:rect r="r" b="b" t="t" l="l"/>
              <a:pathLst>
                <a:path h="122555" w="1005332">
                  <a:moveTo>
                    <a:pt x="1005332" y="122555"/>
                  </a:moveTo>
                  <a:lnTo>
                    <a:pt x="0" y="122555"/>
                  </a:lnTo>
                  <a:lnTo>
                    <a:pt x="0" y="0"/>
                  </a:lnTo>
                  <a:lnTo>
                    <a:pt x="1005332" y="0"/>
                  </a:lnTo>
                  <a:lnTo>
                    <a:pt x="1005332" y="122555"/>
                  </a:lnTo>
                  <a:close/>
                </a:path>
              </a:pathLst>
            </a:custGeom>
            <a:solidFill>
              <a:srgbClr val="1A9987"/>
            </a:solidFill>
          </p:spPr>
        </p:sp>
      </p:grpSp>
      <p:sp>
        <p:nvSpPr>
          <p:cNvPr name="TextBox 8" id="8" descr="$PPTXTitle"/>
          <p:cNvSpPr txBox="true"/>
          <p:nvPr/>
        </p:nvSpPr>
        <p:spPr>
          <a:xfrm rot="0">
            <a:off x="1534030" y="251946"/>
            <a:ext cx="6697466" cy="924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6"/>
              </a:lnSpc>
            </a:pPr>
            <a:r>
              <a:rPr lang="en-US" sz="5598" b="true">
                <a:solidFill>
                  <a:srgbClr val="1A1A1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7533" y="1722120"/>
            <a:ext cx="14971319" cy="657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Manually analyzing large amounts of healthcare data is difficult.</a:t>
            </a:r>
          </a:p>
          <a:p>
            <a:pPr algn="l" marL="822960" indent="-274320" lvl="2">
              <a:lnSpc>
                <a:spcPts val="4320"/>
              </a:lnSpc>
              <a:buFont typeface="Arial"/>
              <a:buChar char="⚬"/>
            </a:pPr>
            <a:r>
              <a:rPr lang="en-US" b="true" sz="3600">
                <a:solidFill>
                  <a:srgbClr val="1A1A1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system aims to:</a:t>
            </a:r>
          </a:p>
          <a:p>
            <a:pPr algn="l" marL="822960" indent="-274320" lvl="2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patient information</a:t>
            </a:r>
          </a:p>
          <a:p>
            <a:pPr algn="l" marL="822960" indent="-274320" lvl="2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common treatments</a:t>
            </a:r>
          </a:p>
          <a:p>
            <a:pPr algn="l" marL="822960" indent="-274320" lvl="2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hospital departments</a:t>
            </a:r>
          </a:p>
          <a:p>
            <a:pPr algn="l" marL="822960" indent="-274320" lvl="2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emergency vs routine visits</a:t>
            </a:r>
          </a:p>
          <a:p>
            <a:pPr algn="l" marL="822960" indent="-274320" lvl="2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 treatment costs</a:t>
            </a:r>
          </a:p>
          <a:p>
            <a:pPr algn="l" marL="822960" indent="-274320" lvl="2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hospital stay duration</a:t>
            </a:r>
          </a:p>
          <a:p>
            <a:pPr algn="l" marL="822960" indent="-274320" lvl="2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 results using graphs</a:t>
            </a:r>
          </a:p>
          <a:p>
            <a:pPr algn="l" marL="822960" indent="-274320" lvl="2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Machine Learning for prediction</a:t>
            </a:r>
          </a:p>
          <a:p>
            <a:pPr algn="l" marL="822960" indent="-274320" lvl="2">
              <a:lnSpc>
                <a:spcPts val="4320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-111709" y="98898"/>
            <a:ext cx="1568577" cy="1505236"/>
            <a:chOff x="0" y="0"/>
            <a:chExt cx="2091436" cy="20069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91436" cy="2006981"/>
            </a:xfrm>
            <a:custGeom>
              <a:avLst/>
              <a:gdLst/>
              <a:ahLst/>
              <a:cxnLst/>
              <a:rect r="r" b="b" t="t" l="l"/>
              <a:pathLst>
                <a:path h="2006981" w="2091436">
                  <a:moveTo>
                    <a:pt x="0" y="0"/>
                  </a:moveTo>
                  <a:lnTo>
                    <a:pt x="2091436" y="0"/>
                  </a:lnTo>
                  <a:lnTo>
                    <a:pt x="2091436" y="2006981"/>
                  </a:lnTo>
                  <a:lnTo>
                    <a:pt x="0" y="2006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22" t="0" r="-223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719480" y="0"/>
            <a:ext cx="1566005" cy="1547812"/>
            <a:chOff x="0" y="0"/>
            <a:chExt cx="2088007" cy="20637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88007" cy="2063750"/>
            </a:xfrm>
            <a:custGeom>
              <a:avLst/>
              <a:gdLst/>
              <a:ahLst/>
              <a:cxnLst/>
              <a:rect r="r" b="b" t="t" l="l"/>
              <a:pathLst>
                <a:path h="2063750" w="2088007">
                  <a:moveTo>
                    <a:pt x="0" y="0"/>
                  </a:moveTo>
                  <a:lnTo>
                    <a:pt x="2088007" y="0"/>
                  </a:lnTo>
                  <a:lnTo>
                    <a:pt x="2088007" y="2063750"/>
                  </a:lnTo>
                  <a:lnTo>
                    <a:pt x="0" y="2063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84" r="0" b="-184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952" cy="1702784"/>
            <a:chOff x="0" y="0"/>
            <a:chExt cx="24379936" cy="22703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937" cy="2270379"/>
            </a:xfrm>
            <a:custGeom>
              <a:avLst/>
              <a:gdLst/>
              <a:ahLst/>
              <a:cxnLst/>
              <a:rect r="r" b="b" t="t" l="l"/>
              <a:pathLst>
                <a:path h="2270379" w="24379937">
                  <a:moveTo>
                    <a:pt x="24379937" y="2270379"/>
                  </a:moveTo>
                  <a:lnTo>
                    <a:pt x="0" y="2270379"/>
                  </a:lnTo>
                  <a:lnTo>
                    <a:pt x="0" y="0"/>
                  </a:lnTo>
                  <a:lnTo>
                    <a:pt x="24379937" y="0"/>
                  </a:lnTo>
                  <a:lnTo>
                    <a:pt x="24379937" y="2270379"/>
                  </a:lnTo>
                  <a:close/>
                </a:path>
              </a:pathLst>
            </a:custGeom>
            <a:solidFill>
              <a:srgbClr val="E8EC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404948" y="188843"/>
            <a:ext cx="747617" cy="91916"/>
            <a:chOff x="0" y="0"/>
            <a:chExt cx="996823" cy="1225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96823" cy="122555"/>
            </a:xfrm>
            <a:custGeom>
              <a:avLst/>
              <a:gdLst/>
              <a:ahLst/>
              <a:cxnLst/>
              <a:rect r="r" b="b" t="t" l="l"/>
              <a:pathLst>
                <a:path h="122555" w="996823">
                  <a:moveTo>
                    <a:pt x="996823" y="122555"/>
                  </a:moveTo>
                  <a:lnTo>
                    <a:pt x="0" y="122555"/>
                  </a:lnTo>
                  <a:lnTo>
                    <a:pt x="0" y="0"/>
                  </a:lnTo>
                  <a:lnTo>
                    <a:pt x="996823" y="0"/>
                  </a:lnTo>
                  <a:lnTo>
                    <a:pt x="996823" y="122555"/>
                  </a:lnTo>
                  <a:close/>
                </a:path>
              </a:pathLst>
            </a:custGeom>
            <a:solidFill>
              <a:srgbClr val="EB56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57188" y="188843"/>
            <a:ext cx="753999" cy="91916"/>
            <a:chOff x="0" y="0"/>
            <a:chExt cx="1005332" cy="1225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5332" cy="122555"/>
            </a:xfrm>
            <a:custGeom>
              <a:avLst/>
              <a:gdLst/>
              <a:ahLst/>
              <a:cxnLst/>
              <a:rect r="r" b="b" t="t" l="l"/>
              <a:pathLst>
                <a:path h="122555" w="1005332">
                  <a:moveTo>
                    <a:pt x="1005332" y="122555"/>
                  </a:moveTo>
                  <a:lnTo>
                    <a:pt x="0" y="122555"/>
                  </a:lnTo>
                  <a:lnTo>
                    <a:pt x="0" y="0"/>
                  </a:lnTo>
                  <a:lnTo>
                    <a:pt x="1005332" y="0"/>
                  </a:lnTo>
                  <a:lnTo>
                    <a:pt x="1005332" y="122555"/>
                  </a:lnTo>
                  <a:close/>
                </a:path>
              </a:pathLst>
            </a:custGeom>
            <a:solidFill>
              <a:srgbClr val="1A9987"/>
            </a:solidFill>
          </p:spPr>
        </p:sp>
      </p:grpSp>
      <p:sp>
        <p:nvSpPr>
          <p:cNvPr name="TextBox 8" id="8" descr="$PPTXTitle"/>
          <p:cNvSpPr txBox="true"/>
          <p:nvPr/>
        </p:nvSpPr>
        <p:spPr>
          <a:xfrm rot="0">
            <a:off x="1657188" y="237172"/>
            <a:ext cx="11861797" cy="924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6"/>
              </a:lnSpc>
            </a:pPr>
            <a:r>
              <a:rPr lang="en-US" sz="5598" b="true">
                <a:solidFill>
                  <a:srgbClr val="1A1A1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0146" y="1693259"/>
            <a:ext cx="12609309" cy="718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8"/>
              </a:lnSpc>
            </a:pPr>
            <a:r>
              <a:rPr lang="en-US" sz="3999" b="true">
                <a:solidFill>
                  <a:srgbClr val="1A1A1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Objectives</a:t>
            </a:r>
          </a:p>
          <a:p>
            <a:pPr algn="l" marL="914171" indent="-304724" lvl="2">
              <a:lnSpc>
                <a:spcPts val="4798"/>
              </a:lnSpc>
              <a:buAutoNum type="arabicPeriod" startAt="1"/>
            </a:pPr>
            <a:r>
              <a:rPr lang="en-US" sz="3999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 the healthcare dataset</a:t>
            </a:r>
          </a:p>
          <a:p>
            <a:pPr algn="l" marL="914171" indent="-304724" lvl="2">
              <a:lnSpc>
                <a:spcPts val="4798"/>
              </a:lnSpc>
              <a:buAutoNum type="arabicPeriod" startAt="1"/>
            </a:pPr>
            <a:r>
              <a:rPr lang="en-US" sz="3999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 and prepare the data</a:t>
            </a:r>
          </a:p>
          <a:p>
            <a:pPr algn="l" marL="914171" indent="-304724" lvl="2">
              <a:lnSpc>
                <a:spcPts val="4798"/>
              </a:lnSpc>
              <a:buAutoNum type="arabicPeriod" startAt="1"/>
            </a:pPr>
            <a:r>
              <a:rPr lang="en-US" sz="3999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patient information</a:t>
            </a:r>
          </a:p>
          <a:p>
            <a:pPr algn="l" marL="914171" indent="-304724" lvl="2">
              <a:lnSpc>
                <a:spcPts val="4798"/>
              </a:lnSpc>
              <a:buAutoNum type="arabicPeriod" startAt="1"/>
            </a:pPr>
            <a:r>
              <a:rPr lang="en-US" sz="3999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the most common department</a:t>
            </a:r>
          </a:p>
          <a:p>
            <a:pPr algn="l" marL="914171" indent="-304724" lvl="2">
              <a:lnSpc>
                <a:spcPts val="4798"/>
              </a:lnSpc>
              <a:buAutoNum type="arabicPeriod" startAt="1"/>
            </a:pPr>
            <a:r>
              <a:rPr lang="en-US" sz="3999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treatment types</a:t>
            </a:r>
          </a:p>
          <a:p>
            <a:pPr algn="l" marL="914171" indent="-304724" lvl="2">
              <a:lnSpc>
                <a:spcPts val="4798"/>
              </a:lnSpc>
              <a:buAutoNum type="arabicPeriod" startAt="1"/>
            </a:pPr>
            <a:r>
              <a:rPr lang="en-US" sz="3999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emergency and routine visits</a:t>
            </a:r>
          </a:p>
          <a:p>
            <a:pPr algn="l" marL="914171" indent="-304724" lvl="2">
              <a:lnSpc>
                <a:spcPts val="4798"/>
              </a:lnSpc>
              <a:buAutoNum type="arabicPeriod" startAt="1"/>
            </a:pPr>
            <a:r>
              <a:rPr lang="en-US" sz="3999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 statistical values</a:t>
            </a:r>
          </a:p>
          <a:p>
            <a:pPr algn="l" marL="914171" indent="-304724" lvl="2">
              <a:lnSpc>
                <a:spcPts val="4798"/>
              </a:lnSpc>
              <a:buAutoNum type="arabicPeriod" startAt="1"/>
            </a:pPr>
            <a:r>
              <a:rPr lang="en-US" sz="3999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graphs and visualizations</a:t>
            </a:r>
          </a:p>
          <a:p>
            <a:pPr algn="l" marL="914171" indent="-304724" lvl="2">
              <a:lnSpc>
                <a:spcPts val="4798"/>
              </a:lnSpc>
              <a:buAutoNum type="arabicPeriod" startAt="1"/>
            </a:pPr>
            <a:r>
              <a:rPr lang="en-US" sz="3999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a Machine Learning model</a:t>
            </a:r>
          </a:p>
          <a:p>
            <a:pPr algn="l" marL="914171" indent="-304724" lvl="2">
              <a:lnSpc>
                <a:spcPts val="4798"/>
              </a:lnSpc>
              <a:buAutoNum type="arabicPeriod" startAt="1"/>
            </a:pPr>
            <a:r>
              <a:rPr lang="en-US" sz="3999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 the use of Data Science in healthcare</a:t>
            </a:r>
            <a:r>
              <a:rPr lang="en-US" b="true" sz="3999">
                <a:solidFill>
                  <a:srgbClr val="1A1A1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</a:t>
            </a:r>
          </a:p>
          <a:p>
            <a:pPr algn="l" marL="914171" indent="-304724" lvl="2">
              <a:lnSpc>
                <a:spcPts val="4319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-111709" y="98898"/>
            <a:ext cx="1568577" cy="1505236"/>
            <a:chOff x="0" y="0"/>
            <a:chExt cx="2091436" cy="20069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91436" cy="2006981"/>
            </a:xfrm>
            <a:custGeom>
              <a:avLst/>
              <a:gdLst/>
              <a:ahLst/>
              <a:cxnLst/>
              <a:rect r="r" b="b" t="t" l="l"/>
              <a:pathLst>
                <a:path h="2006981" w="2091436">
                  <a:moveTo>
                    <a:pt x="0" y="0"/>
                  </a:moveTo>
                  <a:lnTo>
                    <a:pt x="2091436" y="0"/>
                  </a:lnTo>
                  <a:lnTo>
                    <a:pt x="2091436" y="2006981"/>
                  </a:lnTo>
                  <a:lnTo>
                    <a:pt x="0" y="2006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22" t="0" r="-223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719480" y="0"/>
            <a:ext cx="1566005" cy="1547812"/>
            <a:chOff x="0" y="0"/>
            <a:chExt cx="2088007" cy="20637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88007" cy="2063750"/>
            </a:xfrm>
            <a:custGeom>
              <a:avLst/>
              <a:gdLst/>
              <a:ahLst/>
              <a:cxnLst/>
              <a:rect r="r" b="b" t="t" l="l"/>
              <a:pathLst>
                <a:path h="2063750" w="2088007">
                  <a:moveTo>
                    <a:pt x="0" y="0"/>
                  </a:moveTo>
                  <a:lnTo>
                    <a:pt x="2088007" y="0"/>
                  </a:lnTo>
                  <a:lnTo>
                    <a:pt x="2088007" y="2063750"/>
                  </a:lnTo>
                  <a:lnTo>
                    <a:pt x="0" y="2063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84" r="0" b="-184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952" cy="1702784"/>
            <a:chOff x="0" y="0"/>
            <a:chExt cx="24379936" cy="22703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937" cy="2270379"/>
            </a:xfrm>
            <a:custGeom>
              <a:avLst/>
              <a:gdLst/>
              <a:ahLst/>
              <a:cxnLst/>
              <a:rect r="r" b="b" t="t" l="l"/>
              <a:pathLst>
                <a:path h="2270379" w="24379937">
                  <a:moveTo>
                    <a:pt x="24379937" y="2270379"/>
                  </a:moveTo>
                  <a:lnTo>
                    <a:pt x="0" y="2270379"/>
                  </a:lnTo>
                  <a:lnTo>
                    <a:pt x="0" y="0"/>
                  </a:lnTo>
                  <a:lnTo>
                    <a:pt x="24379937" y="0"/>
                  </a:lnTo>
                  <a:lnTo>
                    <a:pt x="24379937" y="2270379"/>
                  </a:lnTo>
                  <a:close/>
                </a:path>
              </a:pathLst>
            </a:custGeom>
            <a:solidFill>
              <a:srgbClr val="E8EC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404948" y="188843"/>
            <a:ext cx="747617" cy="91916"/>
            <a:chOff x="0" y="0"/>
            <a:chExt cx="996823" cy="1225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96823" cy="122555"/>
            </a:xfrm>
            <a:custGeom>
              <a:avLst/>
              <a:gdLst/>
              <a:ahLst/>
              <a:cxnLst/>
              <a:rect r="r" b="b" t="t" l="l"/>
              <a:pathLst>
                <a:path h="122555" w="996823">
                  <a:moveTo>
                    <a:pt x="996823" y="122555"/>
                  </a:moveTo>
                  <a:lnTo>
                    <a:pt x="0" y="122555"/>
                  </a:lnTo>
                  <a:lnTo>
                    <a:pt x="0" y="0"/>
                  </a:lnTo>
                  <a:lnTo>
                    <a:pt x="996823" y="0"/>
                  </a:lnTo>
                  <a:lnTo>
                    <a:pt x="996823" y="122555"/>
                  </a:lnTo>
                  <a:close/>
                </a:path>
              </a:pathLst>
            </a:custGeom>
            <a:solidFill>
              <a:srgbClr val="EB56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57188" y="188843"/>
            <a:ext cx="753999" cy="91916"/>
            <a:chOff x="0" y="0"/>
            <a:chExt cx="1005332" cy="1225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5332" cy="122555"/>
            </a:xfrm>
            <a:custGeom>
              <a:avLst/>
              <a:gdLst/>
              <a:ahLst/>
              <a:cxnLst/>
              <a:rect r="r" b="b" t="t" l="l"/>
              <a:pathLst>
                <a:path h="122555" w="1005332">
                  <a:moveTo>
                    <a:pt x="1005332" y="122555"/>
                  </a:moveTo>
                  <a:lnTo>
                    <a:pt x="0" y="122555"/>
                  </a:lnTo>
                  <a:lnTo>
                    <a:pt x="0" y="0"/>
                  </a:lnTo>
                  <a:lnTo>
                    <a:pt x="1005332" y="0"/>
                  </a:lnTo>
                  <a:lnTo>
                    <a:pt x="1005332" y="122555"/>
                  </a:lnTo>
                  <a:close/>
                </a:path>
              </a:pathLst>
            </a:custGeom>
            <a:solidFill>
              <a:srgbClr val="1A998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284952" cy="1702784"/>
            <a:chOff x="0" y="0"/>
            <a:chExt cx="24379936" cy="22703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9937" cy="2270379"/>
            </a:xfrm>
            <a:custGeom>
              <a:avLst/>
              <a:gdLst/>
              <a:ahLst/>
              <a:cxnLst/>
              <a:rect r="r" b="b" t="t" l="l"/>
              <a:pathLst>
                <a:path h="2270379" w="24379937">
                  <a:moveTo>
                    <a:pt x="24379937" y="2270379"/>
                  </a:moveTo>
                  <a:lnTo>
                    <a:pt x="0" y="2270379"/>
                  </a:lnTo>
                  <a:lnTo>
                    <a:pt x="0" y="0"/>
                  </a:lnTo>
                  <a:lnTo>
                    <a:pt x="24379937" y="0"/>
                  </a:lnTo>
                  <a:lnTo>
                    <a:pt x="24379937" y="2270379"/>
                  </a:lnTo>
                  <a:close/>
                </a:path>
              </a:pathLst>
            </a:custGeom>
            <a:solidFill>
              <a:srgbClr val="E8ECE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404948" y="188843"/>
            <a:ext cx="747617" cy="91916"/>
            <a:chOff x="0" y="0"/>
            <a:chExt cx="996823" cy="1225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96823" cy="122555"/>
            </a:xfrm>
            <a:custGeom>
              <a:avLst/>
              <a:gdLst/>
              <a:ahLst/>
              <a:cxnLst/>
              <a:rect r="r" b="b" t="t" l="l"/>
              <a:pathLst>
                <a:path h="122555" w="996823">
                  <a:moveTo>
                    <a:pt x="996823" y="122555"/>
                  </a:moveTo>
                  <a:lnTo>
                    <a:pt x="0" y="122555"/>
                  </a:lnTo>
                  <a:lnTo>
                    <a:pt x="0" y="0"/>
                  </a:lnTo>
                  <a:lnTo>
                    <a:pt x="996823" y="0"/>
                  </a:lnTo>
                  <a:lnTo>
                    <a:pt x="996823" y="122555"/>
                  </a:lnTo>
                  <a:close/>
                </a:path>
              </a:pathLst>
            </a:custGeom>
            <a:solidFill>
              <a:srgbClr val="EB56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57188" y="188843"/>
            <a:ext cx="753999" cy="91916"/>
            <a:chOff x="0" y="0"/>
            <a:chExt cx="1005332" cy="1225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5332" cy="122555"/>
            </a:xfrm>
            <a:custGeom>
              <a:avLst/>
              <a:gdLst/>
              <a:ahLst/>
              <a:cxnLst/>
              <a:rect r="r" b="b" t="t" l="l"/>
              <a:pathLst>
                <a:path h="122555" w="1005332">
                  <a:moveTo>
                    <a:pt x="1005332" y="122555"/>
                  </a:moveTo>
                  <a:lnTo>
                    <a:pt x="0" y="122555"/>
                  </a:lnTo>
                  <a:lnTo>
                    <a:pt x="0" y="0"/>
                  </a:lnTo>
                  <a:lnTo>
                    <a:pt x="1005332" y="0"/>
                  </a:lnTo>
                  <a:lnTo>
                    <a:pt x="1005332" y="122555"/>
                  </a:lnTo>
                  <a:close/>
                </a:path>
              </a:pathLst>
            </a:custGeom>
            <a:solidFill>
              <a:srgbClr val="1A998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111709" y="98898"/>
            <a:ext cx="1568577" cy="1505236"/>
            <a:chOff x="0" y="0"/>
            <a:chExt cx="2091436" cy="200698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91436" cy="2006981"/>
            </a:xfrm>
            <a:custGeom>
              <a:avLst/>
              <a:gdLst/>
              <a:ahLst/>
              <a:cxnLst/>
              <a:rect r="r" b="b" t="t" l="l"/>
              <a:pathLst>
                <a:path h="2006981" w="2091436">
                  <a:moveTo>
                    <a:pt x="0" y="0"/>
                  </a:moveTo>
                  <a:lnTo>
                    <a:pt x="2091436" y="0"/>
                  </a:lnTo>
                  <a:lnTo>
                    <a:pt x="2091436" y="2006981"/>
                  </a:lnTo>
                  <a:lnTo>
                    <a:pt x="0" y="2006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22" t="0" r="-223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719480" y="0"/>
            <a:ext cx="1566005" cy="1547812"/>
            <a:chOff x="0" y="0"/>
            <a:chExt cx="2088007" cy="20637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88007" cy="2063750"/>
            </a:xfrm>
            <a:custGeom>
              <a:avLst/>
              <a:gdLst/>
              <a:ahLst/>
              <a:cxnLst/>
              <a:rect r="r" b="b" t="t" l="l"/>
              <a:pathLst>
                <a:path h="2063750" w="2088007">
                  <a:moveTo>
                    <a:pt x="0" y="0"/>
                  </a:moveTo>
                  <a:lnTo>
                    <a:pt x="2088007" y="0"/>
                  </a:lnTo>
                  <a:lnTo>
                    <a:pt x="2088007" y="2063750"/>
                  </a:lnTo>
                  <a:lnTo>
                    <a:pt x="0" y="2063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84" r="0" b="-184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6412618" y="1702784"/>
            <a:ext cx="11872334" cy="4002867"/>
          </a:xfrm>
          <a:custGeom>
            <a:avLst/>
            <a:gdLst/>
            <a:ahLst/>
            <a:cxnLst/>
            <a:rect r="r" b="b" t="t" l="l"/>
            <a:pathLst>
              <a:path h="4002867" w="11872334">
                <a:moveTo>
                  <a:pt x="0" y="0"/>
                </a:moveTo>
                <a:lnTo>
                  <a:pt x="11872334" y="0"/>
                </a:lnTo>
                <a:lnTo>
                  <a:pt x="11872334" y="4002867"/>
                </a:lnTo>
                <a:lnTo>
                  <a:pt x="0" y="40028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657188" y="299085"/>
            <a:ext cx="5600862" cy="809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8"/>
              </a:lnSpc>
            </a:pPr>
            <a:r>
              <a:rPr lang="en-US" sz="499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Healthcare Dataset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0" y="1740884"/>
            <a:ext cx="6487329" cy="4095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1499" indent="-190500" lvl="2">
              <a:lnSpc>
                <a:spcPts val="2997"/>
              </a:lnSpc>
              <a:buAutoNum type="arabicPeriod" startAt="1"/>
            </a:pPr>
            <a:r>
              <a:rPr lang="en-US" sz="2499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patient_id – Unique identifier for each patient </a:t>
            </a:r>
          </a:p>
          <a:p>
            <a:pPr algn="l" marL="571499" indent="-190500" lvl="2">
              <a:lnSpc>
                <a:spcPts val="2997"/>
              </a:lnSpc>
              <a:buAutoNum type="arabicPeriod" startAt="1"/>
            </a:pPr>
            <a:r>
              <a:rPr lang="en-US" sz="2499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visit_date – Date and time of the hospital visit </a:t>
            </a:r>
          </a:p>
          <a:p>
            <a:pPr algn="l" marL="571499" indent="-190500" lvl="2">
              <a:lnSpc>
                <a:spcPts val="2997"/>
              </a:lnSpc>
              <a:buAutoNum type="arabicPeriod" startAt="1"/>
            </a:pPr>
            <a:r>
              <a:rPr lang="en-US" sz="2499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age_group – Categorical age brackets (18–30, 31–45, 46–60, 60+) </a:t>
            </a:r>
          </a:p>
          <a:p>
            <a:pPr algn="l" marL="571499" indent="-190500" lvl="2">
              <a:lnSpc>
                <a:spcPts val="2997"/>
              </a:lnSpc>
              <a:buAutoNum type="arabicPeriod" startAt="1"/>
            </a:pPr>
            <a:r>
              <a:rPr lang="en-US" sz="2499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gender – Gender of the patient (Male / Female) </a:t>
            </a:r>
          </a:p>
          <a:p>
            <a:pPr algn="l" marL="571499" indent="-190500" lvl="2">
              <a:lnSpc>
                <a:spcPts val="2997"/>
              </a:lnSpc>
              <a:buAutoNum type="arabicPeriod" startAt="1"/>
            </a:pPr>
            <a:r>
              <a:rPr lang="en-US" sz="2499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 – Geographical region of the patient (North, South, East, West) </a:t>
            </a:r>
          </a:p>
          <a:p>
            <a:pPr algn="l" marL="571499" indent="-190500" lvl="2">
              <a:lnSpc>
                <a:spcPts val="2999"/>
              </a:lnSpc>
              <a:buAutoNum type="arabicPeriod" startAt="1"/>
            </a:pPr>
            <a:r>
              <a:rPr lang="en-US" sz="2499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– Hospital department (General Medicine, Orthopedics, Pediatrics, Neurology, Cardiology)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09544" y="5874926"/>
            <a:ext cx="16205111" cy="1495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treatment_type – Medical intervention type (Medication, Surgery, Therapy, Observation) 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8.visit_type – Category of visit (Emergency vs. Routine) 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l9.ength_of_stay_days – Number of days admitted in the hospital 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10.treatment_cost – Total monetary cost of treatment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5457" cy="1703070"/>
          </a:xfrm>
          <a:custGeom>
            <a:avLst/>
            <a:gdLst/>
            <a:ahLst/>
            <a:cxnLst/>
            <a:rect r="r" b="b" t="t" l="l"/>
            <a:pathLst>
              <a:path h="1703070" w="18285457">
                <a:moveTo>
                  <a:pt x="0" y="0"/>
                </a:moveTo>
                <a:lnTo>
                  <a:pt x="18285457" y="0"/>
                </a:lnTo>
                <a:lnTo>
                  <a:pt x="18285457" y="1703070"/>
                </a:lnTo>
                <a:lnTo>
                  <a:pt x="0" y="17030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49" r="0" b="-4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560195"/>
            <a:ext cx="15725575" cy="7486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8"/>
              </a:lnSpc>
            </a:pPr>
            <a:r>
              <a:rPr lang="en-US" sz="3798" b="true">
                <a:solidFill>
                  <a:srgbClr val="1A1A1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Technology Used</a:t>
            </a:r>
          </a:p>
          <a:p>
            <a:pPr algn="l" marL="868329" indent="-289443" lvl="2">
              <a:lnSpc>
                <a:spcPts val="4558"/>
              </a:lnSpc>
              <a:buFont typeface="Arial"/>
              <a:buChar char="⚬"/>
            </a:pPr>
            <a:r>
              <a:rPr lang="en-US" sz="3798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Language</a:t>
            </a:r>
          </a:p>
          <a:p>
            <a:pPr algn="l" marL="1551832" indent="-387958" lvl="3">
              <a:lnSpc>
                <a:spcPts val="4558"/>
              </a:lnSpc>
              <a:buFont typeface="Arial"/>
              <a:buChar char="￭"/>
            </a:pPr>
            <a:r>
              <a:rPr lang="en-US" sz="3798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</a:t>
            </a:r>
          </a:p>
          <a:p>
            <a:pPr algn="l" marL="1551832" indent="-387958" lvl="3">
              <a:lnSpc>
                <a:spcPts val="4558"/>
              </a:lnSpc>
              <a:buFont typeface="Arial"/>
              <a:buChar char="￭"/>
            </a:pPr>
            <a:r>
              <a:rPr lang="en-US" sz="3798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 Environment</a:t>
            </a:r>
          </a:p>
          <a:p>
            <a:pPr algn="l" marL="1551832" indent="-387958" lvl="3">
              <a:lnSpc>
                <a:spcPts val="4558"/>
              </a:lnSpc>
              <a:buFont typeface="Arial"/>
              <a:buChar char="￭"/>
            </a:pPr>
            <a:r>
              <a:rPr lang="en-US" sz="3798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Jupyter Notebook</a:t>
            </a:r>
          </a:p>
          <a:p>
            <a:pPr algn="l" marL="868329" indent="-289443" lvl="2">
              <a:lnSpc>
                <a:spcPts val="4558"/>
              </a:lnSpc>
              <a:buFont typeface="Arial"/>
              <a:buChar char="⚬"/>
            </a:pPr>
            <a:r>
              <a:rPr lang="en-US" sz="3798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 Colab</a:t>
            </a:r>
          </a:p>
          <a:p>
            <a:pPr algn="l" marL="868329" indent="-289443" lvl="2">
              <a:lnSpc>
                <a:spcPts val="4558"/>
              </a:lnSpc>
              <a:buFont typeface="Arial"/>
              <a:buChar char="⚬"/>
            </a:pPr>
            <a:r>
              <a:rPr lang="en-US" sz="3798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Libraries</a:t>
            </a:r>
          </a:p>
          <a:p>
            <a:pPr algn="l" marL="1551832" indent="-387958" lvl="3">
              <a:lnSpc>
                <a:spcPts val="4558"/>
              </a:lnSpc>
              <a:buFont typeface="Arial"/>
              <a:buChar char="￭"/>
            </a:pPr>
            <a:r>
              <a:rPr lang="en-US" sz="3798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Pandas → Data handling</a:t>
            </a:r>
          </a:p>
          <a:p>
            <a:pPr algn="l" marL="1551832" indent="-387958" lvl="3">
              <a:lnSpc>
                <a:spcPts val="4558"/>
              </a:lnSpc>
              <a:buFont typeface="Arial"/>
              <a:buChar char="￭"/>
            </a:pPr>
            <a:r>
              <a:rPr lang="en-US" sz="3798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NumPy → Numerical calculations</a:t>
            </a:r>
          </a:p>
          <a:p>
            <a:pPr algn="l" marL="1551832" indent="-387958" lvl="3">
              <a:lnSpc>
                <a:spcPts val="4558"/>
              </a:lnSpc>
              <a:buFont typeface="Arial"/>
              <a:buChar char="￭"/>
            </a:pPr>
            <a:r>
              <a:rPr lang="en-US" sz="3798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Matplotlib → Graphs</a:t>
            </a:r>
          </a:p>
          <a:p>
            <a:pPr algn="l" marL="1551832" indent="-387958" lvl="3">
              <a:lnSpc>
                <a:spcPts val="4558"/>
              </a:lnSpc>
              <a:buFont typeface="Arial"/>
              <a:buChar char="￭"/>
            </a:pPr>
            <a:r>
              <a:rPr lang="en-US" sz="3798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Seaborn → Data visualization</a:t>
            </a:r>
          </a:p>
          <a:p>
            <a:pPr algn="l" marL="1551832" indent="-387958" lvl="3">
              <a:lnSpc>
                <a:spcPts val="4558"/>
              </a:lnSpc>
              <a:buFont typeface="Arial"/>
              <a:buChar char="￭"/>
            </a:pPr>
            <a:r>
              <a:rPr lang="en-US" sz="3798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SciPy → Statistical analysis</a:t>
            </a:r>
          </a:p>
          <a:p>
            <a:pPr algn="l" marL="1551832" indent="-387958" lvl="3">
              <a:lnSpc>
                <a:spcPts val="4558"/>
              </a:lnSpc>
              <a:buFont typeface="Arial"/>
              <a:buChar char="￭"/>
            </a:pPr>
            <a:r>
              <a:rPr lang="en-US" sz="3798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Scikit-learn → Machine Learning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11709" y="98898"/>
            <a:ext cx="1568577" cy="1505236"/>
            <a:chOff x="0" y="0"/>
            <a:chExt cx="2091436" cy="20069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91436" cy="2006981"/>
            </a:xfrm>
            <a:custGeom>
              <a:avLst/>
              <a:gdLst/>
              <a:ahLst/>
              <a:cxnLst/>
              <a:rect r="r" b="b" t="t" l="l"/>
              <a:pathLst>
                <a:path h="2006981" w="2091436">
                  <a:moveTo>
                    <a:pt x="0" y="0"/>
                  </a:moveTo>
                  <a:lnTo>
                    <a:pt x="2091436" y="0"/>
                  </a:lnTo>
                  <a:lnTo>
                    <a:pt x="2091436" y="2006981"/>
                  </a:lnTo>
                  <a:lnTo>
                    <a:pt x="0" y="2006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22" t="0" r="-22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719480" y="0"/>
            <a:ext cx="1566005" cy="1547812"/>
            <a:chOff x="0" y="0"/>
            <a:chExt cx="2088007" cy="20637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88007" cy="2063750"/>
            </a:xfrm>
            <a:custGeom>
              <a:avLst/>
              <a:gdLst/>
              <a:ahLst/>
              <a:cxnLst/>
              <a:rect r="r" b="b" t="t" l="l"/>
              <a:pathLst>
                <a:path h="2063750" w="2088007">
                  <a:moveTo>
                    <a:pt x="0" y="0"/>
                  </a:moveTo>
                  <a:lnTo>
                    <a:pt x="2088007" y="0"/>
                  </a:lnTo>
                  <a:lnTo>
                    <a:pt x="2088007" y="2063750"/>
                  </a:lnTo>
                  <a:lnTo>
                    <a:pt x="0" y="2063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84" r="0" b="-184"/>
              </a:stretch>
            </a:blipFill>
          </p:spPr>
        </p:sp>
      </p:grpSp>
      <p:sp>
        <p:nvSpPr>
          <p:cNvPr name="TextBox 8" id="8" descr="$PPTXTitle"/>
          <p:cNvSpPr txBox="true"/>
          <p:nvPr/>
        </p:nvSpPr>
        <p:spPr>
          <a:xfrm rot="0">
            <a:off x="1675505" y="237172"/>
            <a:ext cx="8716328" cy="924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6"/>
              </a:lnSpc>
            </a:pPr>
            <a:r>
              <a:rPr lang="en-US" sz="5598" b="true">
                <a:solidFill>
                  <a:srgbClr val="1A1A1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Tools &amp; Technologies Used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952" cy="1702784"/>
            <a:chOff x="0" y="0"/>
            <a:chExt cx="24379936" cy="22703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937" cy="2270379"/>
            </a:xfrm>
            <a:custGeom>
              <a:avLst/>
              <a:gdLst/>
              <a:ahLst/>
              <a:cxnLst/>
              <a:rect r="r" b="b" t="t" l="l"/>
              <a:pathLst>
                <a:path h="2270379" w="24379937">
                  <a:moveTo>
                    <a:pt x="24379937" y="2270379"/>
                  </a:moveTo>
                  <a:lnTo>
                    <a:pt x="0" y="2270379"/>
                  </a:lnTo>
                  <a:lnTo>
                    <a:pt x="0" y="0"/>
                  </a:lnTo>
                  <a:lnTo>
                    <a:pt x="24379937" y="0"/>
                  </a:lnTo>
                  <a:lnTo>
                    <a:pt x="24379937" y="2270379"/>
                  </a:lnTo>
                  <a:close/>
                </a:path>
              </a:pathLst>
            </a:custGeom>
            <a:solidFill>
              <a:srgbClr val="E8EC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404948" y="188843"/>
            <a:ext cx="747617" cy="91916"/>
            <a:chOff x="0" y="0"/>
            <a:chExt cx="996823" cy="1225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96823" cy="122555"/>
            </a:xfrm>
            <a:custGeom>
              <a:avLst/>
              <a:gdLst/>
              <a:ahLst/>
              <a:cxnLst/>
              <a:rect r="r" b="b" t="t" l="l"/>
              <a:pathLst>
                <a:path h="122555" w="996823">
                  <a:moveTo>
                    <a:pt x="996823" y="122555"/>
                  </a:moveTo>
                  <a:lnTo>
                    <a:pt x="0" y="122555"/>
                  </a:lnTo>
                  <a:lnTo>
                    <a:pt x="0" y="0"/>
                  </a:lnTo>
                  <a:lnTo>
                    <a:pt x="996823" y="0"/>
                  </a:lnTo>
                  <a:lnTo>
                    <a:pt x="996823" y="122555"/>
                  </a:lnTo>
                  <a:close/>
                </a:path>
              </a:pathLst>
            </a:custGeom>
            <a:solidFill>
              <a:srgbClr val="EB56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57188" y="188843"/>
            <a:ext cx="753999" cy="91916"/>
            <a:chOff x="0" y="0"/>
            <a:chExt cx="1005332" cy="1225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5332" cy="122555"/>
            </a:xfrm>
            <a:custGeom>
              <a:avLst/>
              <a:gdLst/>
              <a:ahLst/>
              <a:cxnLst/>
              <a:rect r="r" b="b" t="t" l="l"/>
              <a:pathLst>
                <a:path h="122555" w="1005332">
                  <a:moveTo>
                    <a:pt x="1005332" y="122555"/>
                  </a:moveTo>
                  <a:lnTo>
                    <a:pt x="0" y="122555"/>
                  </a:lnTo>
                  <a:lnTo>
                    <a:pt x="0" y="0"/>
                  </a:lnTo>
                  <a:lnTo>
                    <a:pt x="1005332" y="0"/>
                  </a:lnTo>
                  <a:lnTo>
                    <a:pt x="1005332" y="122555"/>
                  </a:lnTo>
                  <a:close/>
                </a:path>
              </a:pathLst>
            </a:custGeom>
            <a:solidFill>
              <a:srgbClr val="1A998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85775" y="3853339"/>
            <a:ext cx="142875" cy="142875"/>
            <a:chOff x="0" y="0"/>
            <a:chExt cx="190500" cy="190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0500" cy="190500"/>
            </a:xfrm>
            <a:custGeom>
              <a:avLst/>
              <a:gdLst/>
              <a:ahLst/>
              <a:cxnLst/>
              <a:rect r="r" b="b" t="t" l="l"/>
              <a:pathLst>
                <a:path h="1905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190500"/>
                  </a:lnTo>
                  <a:lnTo>
                    <a:pt x="0" y="19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402965" y="3775567"/>
            <a:ext cx="338900" cy="349472"/>
          </a:xfrm>
          <a:custGeom>
            <a:avLst/>
            <a:gdLst/>
            <a:ahLst/>
            <a:cxnLst/>
            <a:rect r="r" b="b" t="t" l="l"/>
            <a:pathLst>
              <a:path h="349472" w="338900">
                <a:moveTo>
                  <a:pt x="0" y="0"/>
                </a:moveTo>
                <a:lnTo>
                  <a:pt x="338899" y="0"/>
                </a:lnTo>
                <a:lnTo>
                  <a:pt x="338899" y="349472"/>
                </a:lnTo>
                <a:lnTo>
                  <a:pt x="0" y="3494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5" t="0" r="-165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111709" y="98898"/>
            <a:ext cx="1568577" cy="1505236"/>
            <a:chOff x="0" y="0"/>
            <a:chExt cx="2091436" cy="200698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91436" cy="2006981"/>
            </a:xfrm>
            <a:custGeom>
              <a:avLst/>
              <a:gdLst/>
              <a:ahLst/>
              <a:cxnLst/>
              <a:rect r="r" b="b" t="t" l="l"/>
              <a:pathLst>
                <a:path h="2006981" w="2091436">
                  <a:moveTo>
                    <a:pt x="0" y="0"/>
                  </a:moveTo>
                  <a:lnTo>
                    <a:pt x="2091436" y="0"/>
                  </a:lnTo>
                  <a:lnTo>
                    <a:pt x="2091436" y="2006981"/>
                  </a:lnTo>
                  <a:lnTo>
                    <a:pt x="0" y="2006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22" t="0" r="-223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719480" y="0"/>
            <a:ext cx="1566005" cy="1547812"/>
            <a:chOff x="0" y="0"/>
            <a:chExt cx="2088007" cy="20637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88007" cy="2063750"/>
            </a:xfrm>
            <a:custGeom>
              <a:avLst/>
              <a:gdLst/>
              <a:ahLst/>
              <a:cxnLst/>
              <a:rect r="r" b="b" t="t" l="l"/>
              <a:pathLst>
                <a:path h="2063750" w="2088007">
                  <a:moveTo>
                    <a:pt x="0" y="0"/>
                  </a:moveTo>
                  <a:lnTo>
                    <a:pt x="2088007" y="0"/>
                  </a:lnTo>
                  <a:lnTo>
                    <a:pt x="2088007" y="2063750"/>
                  </a:lnTo>
                  <a:lnTo>
                    <a:pt x="0" y="2063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84" r="0" b="-184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-1142295" y="1490663"/>
            <a:ext cx="15258174" cy="7486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51832" indent="-387958" lvl="3">
              <a:lnSpc>
                <a:spcPts val="4558"/>
              </a:lnSpc>
              <a:buFont typeface="Arial"/>
              <a:buChar char="￭"/>
            </a:pPr>
            <a:r>
              <a:rPr lang="en-US" b="true" sz="3798">
                <a:solidFill>
                  <a:srgbClr val="1A1A1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</a:t>
            </a:r>
          </a:p>
          <a:p>
            <a:pPr algn="l" marL="2303684" indent="-460737" lvl="4">
              <a:lnSpc>
                <a:spcPts val="4558"/>
              </a:lnSpc>
              <a:buFont typeface="Arial"/>
              <a:buChar char="•"/>
            </a:pPr>
            <a:r>
              <a:rPr lang="en-US" sz="3798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Healthcare Dataset → Load Data → Understand Data → Clean Data → Analyze Data → Statistical Analysis → Visualization → Machine Learning → Results → Conclusion</a:t>
            </a:r>
          </a:p>
          <a:p>
            <a:pPr algn="l" marL="1551832" indent="-387958" lvl="3">
              <a:lnSpc>
                <a:spcPts val="4558"/>
              </a:lnSpc>
              <a:buFont typeface="Arial"/>
              <a:buChar char="￭"/>
            </a:pPr>
            <a:r>
              <a:rPr lang="en-US" b="true" sz="3798">
                <a:solidFill>
                  <a:srgbClr val="1A1A1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Brief Explanation</a:t>
            </a:r>
          </a:p>
          <a:p>
            <a:pPr algn="l" marL="2303684" indent="-460737" lvl="4">
              <a:lnSpc>
                <a:spcPts val="4558"/>
              </a:lnSpc>
              <a:buFont typeface="Arial"/>
              <a:buChar char="•"/>
            </a:pPr>
            <a:r>
              <a:rPr lang="en-US" sz="3798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the healthcare CSV file</a:t>
            </a:r>
          </a:p>
          <a:p>
            <a:pPr algn="l" marL="2303684" indent="-460737" lvl="4">
              <a:lnSpc>
                <a:spcPts val="4558"/>
              </a:lnSpc>
              <a:buFont typeface="Arial"/>
              <a:buChar char="•"/>
            </a:pPr>
            <a:r>
              <a:rPr lang="en-US" sz="3798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 its structure</a:t>
            </a:r>
          </a:p>
          <a:p>
            <a:pPr algn="l" marL="2303684" indent="-460737" lvl="4">
              <a:lnSpc>
                <a:spcPts val="4558"/>
              </a:lnSpc>
              <a:buFont typeface="Arial"/>
              <a:buChar char="•"/>
            </a:pPr>
            <a:r>
              <a:rPr lang="en-US" sz="3798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 and clean the data</a:t>
            </a:r>
          </a:p>
          <a:p>
            <a:pPr algn="l" marL="2303684" indent="-460737" lvl="4">
              <a:lnSpc>
                <a:spcPts val="4558"/>
              </a:lnSpc>
              <a:buFont typeface="Arial"/>
              <a:buChar char="•"/>
            </a:pPr>
            <a:r>
              <a:rPr lang="en-US" sz="3798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 analysis</a:t>
            </a:r>
          </a:p>
          <a:p>
            <a:pPr algn="l" marL="2303684" indent="-460737" lvl="4">
              <a:lnSpc>
                <a:spcPts val="4558"/>
              </a:lnSpc>
              <a:buFont typeface="Arial"/>
              <a:buChar char="•"/>
            </a:pPr>
            <a:r>
              <a:rPr lang="en-US" sz="3798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 statistics</a:t>
            </a:r>
          </a:p>
          <a:p>
            <a:pPr algn="l" marL="2303684" indent="-460737" lvl="4">
              <a:lnSpc>
                <a:spcPts val="4558"/>
              </a:lnSpc>
              <a:buFont typeface="Arial"/>
              <a:buChar char="•"/>
            </a:pPr>
            <a:r>
              <a:rPr lang="en-US" sz="3798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visualizations</a:t>
            </a:r>
          </a:p>
          <a:p>
            <a:pPr algn="l" marL="2303684" indent="-460737" lvl="4">
              <a:lnSpc>
                <a:spcPts val="4558"/>
              </a:lnSpc>
              <a:buFont typeface="Arial"/>
              <a:buChar char="•"/>
            </a:pPr>
            <a:r>
              <a:rPr lang="en-US" sz="3798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Machine Learning</a:t>
            </a:r>
          </a:p>
          <a:p>
            <a:pPr algn="l" marL="2303684" indent="-460737" lvl="4">
              <a:lnSpc>
                <a:spcPts val="4558"/>
              </a:lnSpc>
              <a:buFont typeface="Arial"/>
              <a:buChar char="•"/>
            </a:pPr>
            <a:r>
              <a:rPr lang="en-US" sz="3798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 results 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017145" y="4125039"/>
            <a:ext cx="9485338" cy="5601472"/>
            <a:chOff x="0" y="0"/>
            <a:chExt cx="12647117" cy="74686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647168" cy="7468616"/>
            </a:xfrm>
            <a:custGeom>
              <a:avLst/>
              <a:gdLst/>
              <a:ahLst/>
              <a:cxnLst/>
              <a:rect r="r" b="b" t="t" l="l"/>
              <a:pathLst>
                <a:path h="7468616" w="12647168">
                  <a:moveTo>
                    <a:pt x="0" y="0"/>
                  </a:moveTo>
                  <a:lnTo>
                    <a:pt x="12647168" y="0"/>
                  </a:lnTo>
                  <a:lnTo>
                    <a:pt x="12647168" y="7468616"/>
                  </a:lnTo>
                  <a:lnTo>
                    <a:pt x="0" y="7468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8" id="18" descr="$PPTXTitle"/>
          <p:cNvSpPr txBox="true"/>
          <p:nvPr/>
        </p:nvSpPr>
        <p:spPr>
          <a:xfrm rot="0">
            <a:off x="1658950" y="273415"/>
            <a:ext cx="10314937" cy="809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7"/>
              </a:lnSpc>
            </a:pPr>
            <a:r>
              <a:rPr lang="en-US" sz="4998" b="true">
                <a:solidFill>
                  <a:srgbClr val="1A1A1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Cleaning &amp; Preprocessing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952" cy="1702784"/>
            <a:chOff x="0" y="0"/>
            <a:chExt cx="24379936" cy="22703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937" cy="2270379"/>
            </a:xfrm>
            <a:custGeom>
              <a:avLst/>
              <a:gdLst/>
              <a:ahLst/>
              <a:cxnLst/>
              <a:rect r="r" b="b" t="t" l="l"/>
              <a:pathLst>
                <a:path h="2270379" w="24379937">
                  <a:moveTo>
                    <a:pt x="24379937" y="2270379"/>
                  </a:moveTo>
                  <a:lnTo>
                    <a:pt x="0" y="2270379"/>
                  </a:lnTo>
                  <a:lnTo>
                    <a:pt x="0" y="0"/>
                  </a:lnTo>
                  <a:lnTo>
                    <a:pt x="24379937" y="0"/>
                  </a:lnTo>
                  <a:lnTo>
                    <a:pt x="24379937" y="2270379"/>
                  </a:lnTo>
                  <a:close/>
                </a:path>
              </a:pathLst>
            </a:custGeom>
            <a:solidFill>
              <a:srgbClr val="E8ECED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57188" y="188843"/>
            <a:ext cx="1495787" cy="92078"/>
          </a:xfrm>
          <a:custGeom>
            <a:avLst/>
            <a:gdLst/>
            <a:ahLst/>
            <a:cxnLst/>
            <a:rect r="r" b="b" t="t" l="l"/>
            <a:pathLst>
              <a:path h="92078" w="1495787">
                <a:moveTo>
                  <a:pt x="0" y="0"/>
                </a:moveTo>
                <a:lnTo>
                  <a:pt x="1495787" y="0"/>
                </a:lnTo>
                <a:lnTo>
                  <a:pt x="1495787" y="92078"/>
                </a:lnTo>
                <a:lnTo>
                  <a:pt x="0" y="920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406" r="0" b="-1406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111709" y="98898"/>
            <a:ext cx="1568577" cy="1505236"/>
            <a:chOff x="0" y="0"/>
            <a:chExt cx="2091436" cy="20069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91436" cy="2006981"/>
            </a:xfrm>
            <a:custGeom>
              <a:avLst/>
              <a:gdLst/>
              <a:ahLst/>
              <a:cxnLst/>
              <a:rect r="r" b="b" t="t" l="l"/>
              <a:pathLst>
                <a:path h="2006981" w="2091436">
                  <a:moveTo>
                    <a:pt x="0" y="0"/>
                  </a:moveTo>
                  <a:lnTo>
                    <a:pt x="2091436" y="0"/>
                  </a:lnTo>
                  <a:lnTo>
                    <a:pt x="2091436" y="2006981"/>
                  </a:lnTo>
                  <a:lnTo>
                    <a:pt x="0" y="2006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22" t="0" r="-223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719480" y="0"/>
            <a:ext cx="1566005" cy="1547812"/>
            <a:chOff x="0" y="0"/>
            <a:chExt cx="2088007" cy="20637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88007" cy="2063750"/>
            </a:xfrm>
            <a:custGeom>
              <a:avLst/>
              <a:gdLst/>
              <a:ahLst/>
              <a:cxnLst/>
              <a:rect r="r" b="b" t="t" l="l"/>
              <a:pathLst>
                <a:path h="2063750" w="2088007">
                  <a:moveTo>
                    <a:pt x="0" y="0"/>
                  </a:moveTo>
                  <a:lnTo>
                    <a:pt x="2088007" y="0"/>
                  </a:lnTo>
                  <a:lnTo>
                    <a:pt x="2088007" y="2063750"/>
                  </a:lnTo>
                  <a:lnTo>
                    <a:pt x="0" y="2063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84" r="0" b="-184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279375" y="1731359"/>
            <a:ext cx="11773186" cy="6443434"/>
            <a:chOff x="0" y="0"/>
            <a:chExt cx="15697581" cy="859124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697581" cy="8591296"/>
            </a:xfrm>
            <a:custGeom>
              <a:avLst/>
              <a:gdLst/>
              <a:ahLst/>
              <a:cxnLst/>
              <a:rect r="r" b="b" t="t" l="l"/>
              <a:pathLst>
                <a:path h="8591296" w="15697581">
                  <a:moveTo>
                    <a:pt x="0" y="0"/>
                  </a:moveTo>
                  <a:lnTo>
                    <a:pt x="15697581" y="0"/>
                  </a:lnTo>
                  <a:lnTo>
                    <a:pt x="15697581" y="8591296"/>
                  </a:lnTo>
                  <a:lnTo>
                    <a:pt x="0" y="8591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1" id="11" descr="$PPTXTitle"/>
          <p:cNvSpPr txBox="true"/>
          <p:nvPr/>
        </p:nvSpPr>
        <p:spPr>
          <a:xfrm rot="0">
            <a:off x="1657188" y="254803"/>
            <a:ext cx="10314937" cy="809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7"/>
              </a:lnSpc>
            </a:pPr>
            <a:r>
              <a:rPr lang="en-US" sz="4998" b="true">
                <a:solidFill>
                  <a:srgbClr val="1A1A1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Patient &amp; Department 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8571" y="1693259"/>
            <a:ext cx="9913087" cy="782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1" b="true">
                <a:solidFill>
                  <a:srgbClr val="1A1A1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Patient &amp; Hospital Analysis</a:t>
            </a:r>
          </a:p>
          <a:p>
            <a:pPr algn="l" marL="594625" indent="-198208" lvl="2">
              <a:lnSpc>
                <a:spcPts val="3120"/>
              </a:lnSpc>
              <a:buFont typeface="Arial"/>
              <a:buChar char="⚬"/>
            </a:pPr>
            <a:r>
              <a:rPr lang="en-US" sz="260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analyzed:</a:t>
            </a:r>
          </a:p>
          <a:p>
            <a:pPr algn="l" marL="594625" indent="-198208" lvl="2">
              <a:lnSpc>
                <a:spcPts val="3120"/>
              </a:lnSpc>
              <a:buFont typeface="Arial"/>
              <a:buChar char="⚬"/>
            </a:pPr>
            <a:r>
              <a:rPr lang="en-US" b="true" sz="2601">
                <a:solidFill>
                  <a:srgbClr val="1A1A1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Age Group</a:t>
            </a:r>
          </a:p>
          <a:p>
            <a:pPr algn="l" marL="1062645" indent="-265661" lvl="3">
              <a:lnSpc>
                <a:spcPts val="3120"/>
              </a:lnSpc>
              <a:buFont typeface="Arial"/>
              <a:buChar char="￭"/>
            </a:pPr>
            <a:r>
              <a:rPr lang="en-US" sz="260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18–30</a:t>
            </a:r>
          </a:p>
          <a:p>
            <a:pPr algn="l" marL="1062645" indent="-265661" lvl="3">
              <a:lnSpc>
                <a:spcPts val="3120"/>
              </a:lnSpc>
              <a:buFont typeface="Arial"/>
              <a:buChar char="￭"/>
            </a:pPr>
            <a:r>
              <a:rPr lang="en-US" sz="260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31–45</a:t>
            </a:r>
          </a:p>
          <a:p>
            <a:pPr algn="l" marL="1062645" indent="-265661" lvl="3">
              <a:lnSpc>
                <a:spcPts val="3120"/>
              </a:lnSpc>
              <a:buFont typeface="Arial"/>
              <a:buChar char="￭"/>
            </a:pPr>
            <a:r>
              <a:rPr lang="en-US" sz="260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46–60</a:t>
            </a:r>
          </a:p>
          <a:p>
            <a:pPr algn="l" marL="1062645" indent="-265661" lvl="3">
              <a:lnSpc>
                <a:spcPts val="3120"/>
              </a:lnSpc>
              <a:buFont typeface="Arial"/>
              <a:buChar char="￭"/>
            </a:pPr>
            <a:r>
              <a:rPr lang="en-US" sz="260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60+</a:t>
            </a:r>
          </a:p>
          <a:p>
            <a:pPr algn="l" marL="594625" indent="-198208" lvl="2">
              <a:lnSpc>
                <a:spcPts val="3120"/>
              </a:lnSpc>
              <a:buFont typeface="Arial"/>
              <a:buChar char="⚬"/>
            </a:pPr>
            <a:r>
              <a:rPr lang="en-US" b="true" sz="2601">
                <a:solidFill>
                  <a:srgbClr val="1A1A1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Gender</a:t>
            </a:r>
          </a:p>
          <a:p>
            <a:pPr algn="l" marL="1062645" indent="-265661" lvl="3">
              <a:lnSpc>
                <a:spcPts val="3120"/>
              </a:lnSpc>
              <a:buFont typeface="Arial"/>
              <a:buChar char="￭"/>
            </a:pPr>
            <a:r>
              <a:rPr lang="en-US" sz="260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Male: 2,508</a:t>
            </a:r>
          </a:p>
          <a:p>
            <a:pPr algn="l" marL="1062645" indent="-265661" lvl="3">
              <a:lnSpc>
                <a:spcPts val="3120"/>
              </a:lnSpc>
              <a:buFont typeface="Arial"/>
              <a:buChar char="￭"/>
            </a:pPr>
            <a:r>
              <a:rPr lang="en-US" sz="260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Female: 2,492</a:t>
            </a:r>
          </a:p>
          <a:p>
            <a:pPr algn="l" marL="594625" indent="-198208" lvl="2">
              <a:lnSpc>
                <a:spcPts val="3120"/>
              </a:lnSpc>
              <a:buFont typeface="Arial"/>
              <a:buChar char="⚬"/>
            </a:pPr>
            <a:r>
              <a:rPr lang="en-US" b="true" sz="2601">
                <a:solidFill>
                  <a:srgbClr val="1A1A1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</a:t>
            </a:r>
          </a:p>
          <a:p>
            <a:pPr algn="l" marL="1062645" indent="-265661" lvl="3">
              <a:lnSpc>
                <a:spcPts val="3120"/>
              </a:lnSpc>
              <a:buFont typeface="Arial"/>
              <a:buChar char="￭"/>
            </a:pPr>
            <a:r>
              <a:rPr lang="en-US" sz="260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Orthopedics</a:t>
            </a:r>
          </a:p>
          <a:p>
            <a:pPr algn="l" marL="1062645" indent="-265661" lvl="3">
              <a:lnSpc>
                <a:spcPts val="3120"/>
              </a:lnSpc>
              <a:buFont typeface="Arial"/>
              <a:buChar char="￭"/>
            </a:pPr>
            <a:r>
              <a:rPr lang="en-US" sz="260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Cardiology</a:t>
            </a:r>
          </a:p>
          <a:p>
            <a:pPr algn="l" marL="1062645" indent="-265661" lvl="3">
              <a:lnSpc>
                <a:spcPts val="3120"/>
              </a:lnSpc>
              <a:buFont typeface="Arial"/>
              <a:buChar char="￭"/>
            </a:pPr>
            <a:r>
              <a:rPr lang="en-US" sz="260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Medicine</a:t>
            </a:r>
          </a:p>
          <a:p>
            <a:pPr algn="l" marL="1062645" indent="-265661" lvl="3">
              <a:lnSpc>
                <a:spcPts val="3120"/>
              </a:lnSpc>
              <a:buFont typeface="Arial"/>
              <a:buChar char="￭"/>
            </a:pPr>
            <a:r>
              <a:rPr lang="en-US" sz="260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Pediatrics</a:t>
            </a:r>
          </a:p>
          <a:p>
            <a:pPr algn="l" marL="1062645" indent="-265661" lvl="3">
              <a:lnSpc>
                <a:spcPts val="3120"/>
              </a:lnSpc>
              <a:buFont typeface="Arial"/>
              <a:buChar char="￭"/>
            </a:pPr>
            <a:r>
              <a:rPr lang="en-US" sz="260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Neurology</a:t>
            </a:r>
          </a:p>
          <a:p>
            <a:pPr algn="l" marL="594625" indent="-198208" lvl="2">
              <a:lnSpc>
                <a:spcPts val="3120"/>
              </a:lnSpc>
              <a:buFont typeface="Arial"/>
              <a:buChar char="⚬"/>
            </a:pPr>
            <a:r>
              <a:rPr lang="en-US" b="true" sz="2601">
                <a:solidFill>
                  <a:srgbClr val="1A1A1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Findings</a:t>
            </a:r>
          </a:p>
          <a:p>
            <a:pPr algn="l" marL="1062645" indent="-265661" lvl="3">
              <a:lnSpc>
                <a:spcPts val="3120"/>
              </a:lnSpc>
              <a:buFont typeface="Arial"/>
              <a:buChar char="￭"/>
            </a:pPr>
            <a:r>
              <a:rPr lang="en-US" sz="260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31–45 has the highest number of patients.</a:t>
            </a:r>
          </a:p>
          <a:p>
            <a:pPr algn="l" marL="1062645" indent="-265661" lvl="3">
              <a:lnSpc>
                <a:spcPts val="3120"/>
              </a:lnSpc>
              <a:buFont typeface="Arial"/>
              <a:buChar char="￭"/>
            </a:pPr>
            <a:r>
              <a:rPr lang="en-US" sz="260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Male and female patients are almost equally represented.</a:t>
            </a:r>
          </a:p>
          <a:p>
            <a:pPr algn="l" marL="1062645" indent="-265661" lvl="3">
              <a:lnSpc>
                <a:spcPts val="3120"/>
              </a:lnSpc>
              <a:buFont typeface="Arial"/>
              <a:buChar char="￭"/>
            </a:pPr>
            <a:r>
              <a:rPr lang="en-US" sz="260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Orthopedics has the highest number of patient records.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952" cy="1702784"/>
            <a:chOff x="0" y="0"/>
            <a:chExt cx="24379936" cy="22703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937" cy="2270379"/>
            </a:xfrm>
            <a:custGeom>
              <a:avLst/>
              <a:gdLst/>
              <a:ahLst/>
              <a:cxnLst/>
              <a:rect r="r" b="b" t="t" l="l"/>
              <a:pathLst>
                <a:path h="2270379" w="24379937">
                  <a:moveTo>
                    <a:pt x="24379937" y="2270379"/>
                  </a:moveTo>
                  <a:lnTo>
                    <a:pt x="0" y="2270379"/>
                  </a:lnTo>
                  <a:lnTo>
                    <a:pt x="0" y="0"/>
                  </a:lnTo>
                  <a:lnTo>
                    <a:pt x="24379937" y="0"/>
                  </a:lnTo>
                  <a:lnTo>
                    <a:pt x="24379937" y="2270379"/>
                  </a:lnTo>
                  <a:close/>
                </a:path>
              </a:pathLst>
            </a:custGeom>
            <a:solidFill>
              <a:srgbClr val="E8EC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404948" y="188843"/>
            <a:ext cx="747617" cy="91916"/>
            <a:chOff x="0" y="0"/>
            <a:chExt cx="996823" cy="1225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96823" cy="122555"/>
            </a:xfrm>
            <a:custGeom>
              <a:avLst/>
              <a:gdLst/>
              <a:ahLst/>
              <a:cxnLst/>
              <a:rect r="r" b="b" t="t" l="l"/>
              <a:pathLst>
                <a:path h="122555" w="996823">
                  <a:moveTo>
                    <a:pt x="996823" y="122555"/>
                  </a:moveTo>
                  <a:lnTo>
                    <a:pt x="0" y="122555"/>
                  </a:lnTo>
                  <a:lnTo>
                    <a:pt x="0" y="0"/>
                  </a:lnTo>
                  <a:lnTo>
                    <a:pt x="996823" y="0"/>
                  </a:lnTo>
                  <a:lnTo>
                    <a:pt x="996823" y="122555"/>
                  </a:lnTo>
                  <a:close/>
                </a:path>
              </a:pathLst>
            </a:custGeom>
            <a:solidFill>
              <a:srgbClr val="EB56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57188" y="188843"/>
            <a:ext cx="753999" cy="91916"/>
            <a:chOff x="0" y="0"/>
            <a:chExt cx="1005332" cy="1225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5332" cy="122555"/>
            </a:xfrm>
            <a:custGeom>
              <a:avLst/>
              <a:gdLst/>
              <a:ahLst/>
              <a:cxnLst/>
              <a:rect r="r" b="b" t="t" l="l"/>
              <a:pathLst>
                <a:path h="122555" w="1005332">
                  <a:moveTo>
                    <a:pt x="1005332" y="122555"/>
                  </a:moveTo>
                  <a:lnTo>
                    <a:pt x="0" y="122555"/>
                  </a:lnTo>
                  <a:lnTo>
                    <a:pt x="0" y="0"/>
                  </a:lnTo>
                  <a:lnTo>
                    <a:pt x="1005332" y="0"/>
                  </a:lnTo>
                  <a:lnTo>
                    <a:pt x="1005332" y="122555"/>
                  </a:lnTo>
                  <a:close/>
                </a:path>
              </a:pathLst>
            </a:custGeom>
            <a:solidFill>
              <a:srgbClr val="1A9987"/>
            </a:solidFill>
          </p:spPr>
        </p:sp>
      </p:grpSp>
      <p:sp>
        <p:nvSpPr>
          <p:cNvPr name="TextBox 8" id="8" descr="$PPTXTitle"/>
          <p:cNvSpPr txBox="true"/>
          <p:nvPr/>
        </p:nvSpPr>
        <p:spPr>
          <a:xfrm rot="0">
            <a:off x="1772841" y="237172"/>
            <a:ext cx="10116150" cy="924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6"/>
              </a:lnSpc>
            </a:pPr>
            <a:r>
              <a:rPr lang="en-US" sz="559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Treatment, Visit &amp; Cost Analysis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-111709" y="98898"/>
            <a:ext cx="1568577" cy="1505236"/>
            <a:chOff x="0" y="0"/>
            <a:chExt cx="2091436" cy="20069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91436" cy="2006981"/>
            </a:xfrm>
            <a:custGeom>
              <a:avLst/>
              <a:gdLst/>
              <a:ahLst/>
              <a:cxnLst/>
              <a:rect r="r" b="b" t="t" l="l"/>
              <a:pathLst>
                <a:path h="2006981" w="2091436">
                  <a:moveTo>
                    <a:pt x="0" y="0"/>
                  </a:moveTo>
                  <a:lnTo>
                    <a:pt x="2091436" y="0"/>
                  </a:lnTo>
                  <a:lnTo>
                    <a:pt x="2091436" y="2006981"/>
                  </a:lnTo>
                  <a:lnTo>
                    <a:pt x="0" y="2006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22" t="0" r="-223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719480" y="0"/>
            <a:ext cx="1566005" cy="1547812"/>
            <a:chOff x="0" y="0"/>
            <a:chExt cx="2088007" cy="20637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88007" cy="2063750"/>
            </a:xfrm>
            <a:custGeom>
              <a:avLst/>
              <a:gdLst/>
              <a:ahLst/>
              <a:cxnLst/>
              <a:rect r="r" b="b" t="t" l="l"/>
              <a:pathLst>
                <a:path h="2063750" w="2088007">
                  <a:moveTo>
                    <a:pt x="0" y="0"/>
                  </a:moveTo>
                  <a:lnTo>
                    <a:pt x="2088007" y="0"/>
                  </a:lnTo>
                  <a:lnTo>
                    <a:pt x="2088007" y="2063750"/>
                  </a:lnTo>
                  <a:lnTo>
                    <a:pt x="0" y="2063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84" r="0" b="-184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22113" y="1693259"/>
            <a:ext cx="8920363" cy="7975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1"/>
              </a:lnSpc>
            </a:pPr>
            <a:r>
              <a:rPr lang="en-US" sz="30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Healthcare Statistics</a:t>
            </a:r>
          </a:p>
          <a:p>
            <a:pPr algn="l" marL="703027" indent="-234342" lvl="2">
              <a:lnSpc>
                <a:spcPts val="3691"/>
              </a:lnSpc>
              <a:buFont typeface="Arial"/>
              <a:buChar char="⚬"/>
            </a:pPr>
            <a:r>
              <a:rPr lang="en-US" b="true" sz="307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Treatment Types</a:t>
            </a:r>
          </a:p>
          <a:p>
            <a:pPr algn="l" marL="1256413" indent="-314103" lvl="3">
              <a:lnSpc>
                <a:spcPts val="3691"/>
              </a:lnSpc>
              <a:buFont typeface="Arial"/>
              <a:buChar char="￭"/>
            </a:pPr>
            <a:r>
              <a:rPr lang="en-US" sz="30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Observation</a:t>
            </a:r>
          </a:p>
          <a:p>
            <a:pPr algn="l" marL="1256413" indent="-314103" lvl="3">
              <a:lnSpc>
                <a:spcPts val="3691"/>
              </a:lnSpc>
              <a:buFont typeface="Arial"/>
              <a:buChar char="￭"/>
            </a:pPr>
            <a:r>
              <a:rPr lang="en-US" sz="30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Surgery</a:t>
            </a:r>
          </a:p>
          <a:p>
            <a:pPr algn="l" marL="1256413" indent="-314103" lvl="3">
              <a:lnSpc>
                <a:spcPts val="3691"/>
              </a:lnSpc>
              <a:buFont typeface="Arial"/>
              <a:buChar char="￭"/>
            </a:pPr>
            <a:r>
              <a:rPr lang="en-US" sz="30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Medication</a:t>
            </a:r>
          </a:p>
          <a:p>
            <a:pPr algn="l" marL="1256413" indent="-314103" lvl="3">
              <a:lnSpc>
                <a:spcPts val="3691"/>
              </a:lnSpc>
              <a:buFont typeface="Arial"/>
              <a:buChar char="￭"/>
            </a:pPr>
            <a:r>
              <a:rPr lang="en-US" sz="30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Therapy</a:t>
            </a:r>
          </a:p>
          <a:p>
            <a:pPr algn="l" marL="703027" indent="-234342" lvl="2">
              <a:lnSpc>
                <a:spcPts val="3691"/>
              </a:lnSpc>
              <a:buFont typeface="Arial"/>
              <a:buChar char="⚬"/>
            </a:pPr>
            <a:r>
              <a:rPr lang="en-US" sz="30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Finding: Observation is the most common treatment.</a:t>
            </a:r>
          </a:p>
          <a:p>
            <a:pPr algn="l" marL="703027" indent="-234342" lvl="2">
              <a:lnSpc>
                <a:spcPts val="3691"/>
              </a:lnSpc>
              <a:buFont typeface="Arial"/>
              <a:buChar char="⚬"/>
            </a:pPr>
            <a:r>
              <a:rPr lang="en-US" b="true" sz="307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Visit Types</a:t>
            </a:r>
          </a:p>
          <a:p>
            <a:pPr algn="l" marL="1256413" indent="-314103" lvl="3">
              <a:lnSpc>
                <a:spcPts val="3691"/>
              </a:lnSpc>
              <a:buFont typeface="Arial"/>
              <a:buChar char="￭"/>
            </a:pPr>
            <a:r>
              <a:rPr lang="en-US" sz="30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Routine: 3,432</a:t>
            </a:r>
          </a:p>
          <a:p>
            <a:pPr algn="l" marL="1256413" indent="-314103" lvl="3">
              <a:lnSpc>
                <a:spcPts val="3691"/>
              </a:lnSpc>
              <a:buFont typeface="Arial"/>
              <a:buChar char="￭"/>
            </a:pPr>
            <a:r>
              <a:rPr lang="en-US" sz="30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Emergency: 1,568</a:t>
            </a:r>
          </a:p>
          <a:p>
            <a:pPr algn="l" marL="703027" indent="-234342" lvl="2">
              <a:lnSpc>
                <a:spcPts val="3691"/>
              </a:lnSpc>
              <a:buFont typeface="Arial"/>
              <a:buChar char="⚬"/>
            </a:pPr>
            <a:r>
              <a:rPr lang="en-US" sz="30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Finding: Routine visits are more common.</a:t>
            </a:r>
          </a:p>
          <a:p>
            <a:pPr algn="l" marL="703027" indent="-234342" lvl="2">
              <a:lnSpc>
                <a:spcPts val="3691"/>
              </a:lnSpc>
              <a:buFont typeface="Arial"/>
              <a:buChar char="⚬"/>
            </a:pPr>
            <a:r>
              <a:rPr lang="en-US" b="true" sz="307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Treatment Cost</a:t>
            </a:r>
          </a:p>
          <a:p>
            <a:pPr algn="l" marL="1256413" indent="-314103" lvl="3">
              <a:lnSpc>
                <a:spcPts val="3691"/>
              </a:lnSpc>
              <a:buFont typeface="Arial"/>
              <a:buChar char="￭"/>
            </a:pPr>
            <a:r>
              <a:rPr lang="en-US" sz="30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Average: ₹54,915.47</a:t>
            </a:r>
          </a:p>
          <a:p>
            <a:pPr algn="l" marL="1256413" indent="-314103" lvl="3">
              <a:lnSpc>
                <a:spcPts val="3691"/>
              </a:lnSpc>
              <a:buFont typeface="Arial"/>
              <a:buChar char="￭"/>
            </a:pPr>
            <a:r>
              <a:rPr lang="en-US" sz="30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Median: ₹55,123.50</a:t>
            </a:r>
          </a:p>
          <a:p>
            <a:pPr algn="l" marL="1256413" indent="-314103" lvl="3">
              <a:lnSpc>
                <a:spcPts val="3691"/>
              </a:lnSpc>
              <a:buFont typeface="Arial"/>
              <a:buChar char="￭"/>
            </a:pPr>
            <a:r>
              <a:rPr lang="en-US" sz="30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Minimum: ₹746</a:t>
            </a:r>
          </a:p>
          <a:p>
            <a:pPr algn="l" marL="1256413" indent="-314103" lvl="3">
              <a:lnSpc>
                <a:spcPts val="3691"/>
              </a:lnSpc>
              <a:buFont typeface="Arial"/>
              <a:buChar char="￭"/>
            </a:pPr>
            <a:r>
              <a:rPr lang="en-US" sz="30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Maximum: ₹119,307</a:t>
            </a:r>
          </a:p>
          <a:p>
            <a:pPr algn="l" marL="703027" indent="-234342" lvl="2">
              <a:lnSpc>
                <a:spcPts val="3691"/>
              </a:lnSpc>
              <a:buFont typeface="Arial"/>
              <a:buChar char="⚬"/>
            </a:pPr>
            <a:r>
              <a:rPr lang="en-US" sz="30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Hospital Stay: approximately 4 days.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9050"/>
            <a:ext cx="18284952" cy="1702784"/>
            <a:chOff x="0" y="0"/>
            <a:chExt cx="24379936" cy="22703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937" cy="2270379"/>
            </a:xfrm>
            <a:custGeom>
              <a:avLst/>
              <a:gdLst/>
              <a:ahLst/>
              <a:cxnLst/>
              <a:rect r="r" b="b" t="t" l="l"/>
              <a:pathLst>
                <a:path h="2270379" w="24379937">
                  <a:moveTo>
                    <a:pt x="24379937" y="2270379"/>
                  </a:moveTo>
                  <a:lnTo>
                    <a:pt x="0" y="2270379"/>
                  </a:lnTo>
                  <a:lnTo>
                    <a:pt x="0" y="0"/>
                  </a:lnTo>
                  <a:lnTo>
                    <a:pt x="24379937" y="0"/>
                  </a:lnTo>
                  <a:lnTo>
                    <a:pt x="24379937" y="2270379"/>
                  </a:lnTo>
                  <a:close/>
                </a:path>
              </a:pathLst>
            </a:custGeom>
            <a:solidFill>
              <a:srgbClr val="E8EC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404948" y="188843"/>
            <a:ext cx="747617" cy="91916"/>
            <a:chOff x="0" y="0"/>
            <a:chExt cx="996823" cy="1225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96823" cy="122555"/>
            </a:xfrm>
            <a:custGeom>
              <a:avLst/>
              <a:gdLst/>
              <a:ahLst/>
              <a:cxnLst/>
              <a:rect r="r" b="b" t="t" l="l"/>
              <a:pathLst>
                <a:path h="122555" w="996823">
                  <a:moveTo>
                    <a:pt x="996823" y="122555"/>
                  </a:moveTo>
                  <a:lnTo>
                    <a:pt x="0" y="122555"/>
                  </a:lnTo>
                  <a:lnTo>
                    <a:pt x="0" y="0"/>
                  </a:lnTo>
                  <a:lnTo>
                    <a:pt x="996823" y="0"/>
                  </a:lnTo>
                  <a:lnTo>
                    <a:pt x="996823" y="122555"/>
                  </a:lnTo>
                  <a:close/>
                </a:path>
              </a:pathLst>
            </a:custGeom>
            <a:solidFill>
              <a:srgbClr val="EB56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57188" y="188843"/>
            <a:ext cx="753999" cy="91916"/>
            <a:chOff x="0" y="0"/>
            <a:chExt cx="1005332" cy="1225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5332" cy="122555"/>
            </a:xfrm>
            <a:custGeom>
              <a:avLst/>
              <a:gdLst/>
              <a:ahLst/>
              <a:cxnLst/>
              <a:rect r="r" b="b" t="t" l="l"/>
              <a:pathLst>
                <a:path h="122555" w="1005332">
                  <a:moveTo>
                    <a:pt x="1005332" y="122555"/>
                  </a:moveTo>
                  <a:lnTo>
                    <a:pt x="0" y="122555"/>
                  </a:lnTo>
                  <a:lnTo>
                    <a:pt x="0" y="0"/>
                  </a:lnTo>
                  <a:lnTo>
                    <a:pt x="1005332" y="0"/>
                  </a:lnTo>
                  <a:lnTo>
                    <a:pt x="1005332" y="122555"/>
                  </a:lnTo>
                  <a:close/>
                </a:path>
              </a:pathLst>
            </a:custGeom>
            <a:solidFill>
              <a:srgbClr val="1A998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11709" y="98898"/>
            <a:ext cx="1568577" cy="1505236"/>
            <a:chOff x="0" y="0"/>
            <a:chExt cx="2091436" cy="20069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91436" cy="2006981"/>
            </a:xfrm>
            <a:custGeom>
              <a:avLst/>
              <a:gdLst/>
              <a:ahLst/>
              <a:cxnLst/>
              <a:rect r="r" b="b" t="t" l="l"/>
              <a:pathLst>
                <a:path h="2006981" w="2091436">
                  <a:moveTo>
                    <a:pt x="0" y="0"/>
                  </a:moveTo>
                  <a:lnTo>
                    <a:pt x="2091436" y="0"/>
                  </a:lnTo>
                  <a:lnTo>
                    <a:pt x="2091436" y="2006981"/>
                  </a:lnTo>
                  <a:lnTo>
                    <a:pt x="0" y="2006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22" t="0" r="-223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719480" y="0"/>
            <a:ext cx="1566005" cy="1547812"/>
            <a:chOff x="0" y="0"/>
            <a:chExt cx="2088007" cy="20637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88007" cy="2063750"/>
            </a:xfrm>
            <a:custGeom>
              <a:avLst/>
              <a:gdLst/>
              <a:ahLst/>
              <a:cxnLst/>
              <a:rect r="r" b="b" t="t" l="l"/>
              <a:pathLst>
                <a:path h="2063750" w="2088007">
                  <a:moveTo>
                    <a:pt x="0" y="0"/>
                  </a:moveTo>
                  <a:lnTo>
                    <a:pt x="2088007" y="0"/>
                  </a:lnTo>
                  <a:lnTo>
                    <a:pt x="2088007" y="2063750"/>
                  </a:lnTo>
                  <a:lnTo>
                    <a:pt x="0" y="2063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84" r="0" b="-184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11477" y="1664684"/>
            <a:ext cx="7194375" cy="8113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5"/>
              </a:lnSpc>
            </a:pPr>
            <a:r>
              <a:rPr lang="en-US" sz="295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Visualization Techniques</a:t>
            </a:r>
          </a:p>
          <a:p>
            <a:pPr algn="l">
              <a:lnSpc>
                <a:spcPts val="3545"/>
              </a:lnSpc>
            </a:pPr>
            <a:r>
              <a:rPr lang="en-US" sz="295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used different graphs to understand the data:</a:t>
            </a:r>
          </a:p>
          <a:p>
            <a:pPr algn="l" marL="675532" indent="-225177" lvl="2">
              <a:lnSpc>
                <a:spcPts val="3545"/>
              </a:lnSpc>
              <a:buFont typeface="Arial"/>
              <a:buChar char="⚬"/>
            </a:pPr>
            <a:r>
              <a:rPr lang="en-US" b="true" sz="295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Bar Chart</a:t>
            </a:r>
          </a:p>
          <a:p>
            <a:pPr algn="l" marL="1207217" indent="-301804" lvl="3">
              <a:lnSpc>
                <a:spcPts val="3545"/>
              </a:lnSpc>
              <a:buFont typeface="Arial"/>
              <a:buChar char="￭"/>
            </a:pPr>
            <a:r>
              <a:rPr lang="en-US" sz="295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Compares patients across departments.</a:t>
            </a:r>
          </a:p>
          <a:p>
            <a:pPr algn="l" marL="1207217" indent="-301804" lvl="3">
              <a:lnSpc>
                <a:spcPts val="3545"/>
              </a:lnSpc>
              <a:buFont typeface="Arial"/>
              <a:buChar char="￭"/>
            </a:pPr>
            <a:r>
              <a:rPr lang="en-US" sz="295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Orthopedics has the highest records.</a:t>
            </a:r>
          </a:p>
          <a:p>
            <a:pPr algn="l" marL="675532" indent="-225177" lvl="2">
              <a:lnSpc>
                <a:spcPts val="3545"/>
              </a:lnSpc>
              <a:buFont typeface="Arial"/>
              <a:buChar char="⚬"/>
            </a:pPr>
            <a:r>
              <a:rPr lang="en-US" b="true" sz="295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Pie Chart</a:t>
            </a:r>
          </a:p>
          <a:p>
            <a:pPr algn="l" marL="1207217" indent="-301804" lvl="3">
              <a:lnSpc>
                <a:spcPts val="3545"/>
              </a:lnSpc>
              <a:buFont typeface="Arial"/>
              <a:buChar char="￭"/>
            </a:pPr>
            <a:r>
              <a:rPr lang="en-US" sz="295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Shows Emergency vs Routine visits.</a:t>
            </a:r>
          </a:p>
          <a:p>
            <a:pPr algn="l" marL="1207217" indent="-301804" lvl="3">
              <a:lnSpc>
                <a:spcPts val="3545"/>
              </a:lnSpc>
              <a:buFont typeface="Arial"/>
              <a:buChar char="￭"/>
            </a:pPr>
            <a:r>
              <a:rPr lang="en-US" sz="295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Routine visits are more common.</a:t>
            </a:r>
          </a:p>
          <a:p>
            <a:pPr algn="l" marL="675532" indent="-225177" lvl="2">
              <a:lnSpc>
                <a:spcPts val="3545"/>
              </a:lnSpc>
              <a:buFont typeface="Arial"/>
              <a:buChar char="⚬"/>
            </a:pPr>
            <a:r>
              <a:rPr lang="en-US" b="true" sz="295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Histogram</a:t>
            </a:r>
          </a:p>
          <a:p>
            <a:pPr algn="l" marL="1207217" indent="-301804" lvl="3">
              <a:lnSpc>
                <a:spcPts val="3545"/>
              </a:lnSpc>
              <a:buFont typeface="Arial"/>
              <a:buChar char="￭"/>
            </a:pPr>
            <a:r>
              <a:rPr lang="en-US" sz="295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Shows treatment-cost distribution.</a:t>
            </a:r>
          </a:p>
          <a:p>
            <a:pPr algn="l" marL="675532" indent="-225177" lvl="2">
              <a:lnSpc>
                <a:spcPts val="3545"/>
              </a:lnSpc>
              <a:buFont typeface="Arial"/>
              <a:buChar char="⚬"/>
            </a:pPr>
            <a:r>
              <a:rPr lang="en-US" b="true" sz="295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 Line Graph</a:t>
            </a:r>
          </a:p>
          <a:p>
            <a:pPr algn="l" marL="1207217" indent="-301804" lvl="3">
              <a:lnSpc>
                <a:spcPts val="3545"/>
              </a:lnSpc>
              <a:buFont typeface="Arial"/>
              <a:buChar char="￭"/>
            </a:pPr>
            <a:r>
              <a:rPr lang="en-US" sz="295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Compares average treatment cost across age groups.</a:t>
            </a:r>
          </a:p>
          <a:p>
            <a:pPr algn="l" marL="675532" indent="-225177" lvl="2">
              <a:lnSpc>
                <a:spcPts val="3545"/>
              </a:lnSpc>
              <a:buFont typeface="Arial"/>
              <a:buChar char="⚬"/>
            </a:pPr>
            <a:r>
              <a:rPr lang="en-US" b="true" sz="295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5. Scatter Plot</a:t>
            </a:r>
          </a:p>
          <a:p>
            <a:pPr algn="l" marL="1207217" indent="-301804" lvl="3">
              <a:lnSpc>
                <a:spcPts val="3545"/>
              </a:lnSpc>
              <a:buFont typeface="Arial"/>
              <a:buChar char="￭"/>
            </a:pPr>
            <a:r>
              <a:rPr lang="en-US" sz="295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Shows the relationship between hospital stay and treatment cost. </a:t>
            </a:r>
          </a:p>
          <a:p>
            <a:pPr algn="l" marL="1207217" indent="-301804" lvl="3">
              <a:lnSpc>
                <a:spcPts val="3545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8302628" y="1965369"/>
            <a:ext cx="9982324" cy="6356271"/>
            <a:chOff x="0" y="0"/>
            <a:chExt cx="13309765" cy="84750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309727" cy="8474964"/>
            </a:xfrm>
            <a:custGeom>
              <a:avLst/>
              <a:gdLst/>
              <a:ahLst/>
              <a:cxnLst/>
              <a:rect r="r" b="b" t="t" l="l"/>
              <a:pathLst>
                <a:path h="8474964" w="13309727">
                  <a:moveTo>
                    <a:pt x="0" y="0"/>
                  </a:moveTo>
                  <a:lnTo>
                    <a:pt x="13309727" y="0"/>
                  </a:lnTo>
                  <a:lnTo>
                    <a:pt x="13309727" y="8474964"/>
                  </a:lnTo>
                  <a:lnTo>
                    <a:pt x="0" y="8474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28700" y="327660"/>
            <a:ext cx="6628962" cy="847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8"/>
              </a:lnSpc>
            </a:pPr>
            <a:r>
              <a:rPr lang="en-US" sz="519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Visualization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952" cy="1702784"/>
            <a:chOff x="0" y="0"/>
            <a:chExt cx="24379936" cy="22703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937" cy="2270379"/>
            </a:xfrm>
            <a:custGeom>
              <a:avLst/>
              <a:gdLst/>
              <a:ahLst/>
              <a:cxnLst/>
              <a:rect r="r" b="b" t="t" l="l"/>
              <a:pathLst>
                <a:path h="2270379" w="24379937">
                  <a:moveTo>
                    <a:pt x="24379937" y="2270379"/>
                  </a:moveTo>
                  <a:lnTo>
                    <a:pt x="0" y="2270379"/>
                  </a:lnTo>
                  <a:lnTo>
                    <a:pt x="0" y="0"/>
                  </a:lnTo>
                  <a:lnTo>
                    <a:pt x="24379937" y="0"/>
                  </a:lnTo>
                  <a:lnTo>
                    <a:pt x="24379937" y="2270379"/>
                  </a:lnTo>
                  <a:close/>
                </a:path>
              </a:pathLst>
            </a:custGeom>
            <a:solidFill>
              <a:srgbClr val="E8EC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404948" y="188843"/>
            <a:ext cx="747617" cy="91916"/>
            <a:chOff x="0" y="0"/>
            <a:chExt cx="996823" cy="1225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96823" cy="122555"/>
            </a:xfrm>
            <a:custGeom>
              <a:avLst/>
              <a:gdLst/>
              <a:ahLst/>
              <a:cxnLst/>
              <a:rect r="r" b="b" t="t" l="l"/>
              <a:pathLst>
                <a:path h="122555" w="996823">
                  <a:moveTo>
                    <a:pt x="996823" y="122555"/>
                  </a:moveTo>
                  <a:lnTo>
                    <a:pt x="0" y="122555"/>
                  </a:lnTo>
                  <a:lnTo>
                    <a:pt x="0" y="0"/>
                  </a:lnTo>
                  <a:lnTo>
                    <a:pt x="996823" y="0"/>
                  </a:lnTo>
                  <a:lnTo>
                    <a:pt x="996823" y="122555"/>
                  </a:lnTo>
                  <a:close/>
                </a:path>
              </a:pathLst>
            </a:custGeom>
            <a:solidFill>
              <a:srgbClr val="EB56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57188" y="188843"/>
            <a:ext cx="753999" cy="91916"/>
            <a:chOff x="0" y="0"/>
            <a:chExt cx="1005332" cy="1225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5332" cy="122555"/>
            </a:xfrm>
            <a:custGeom>
              <a:avLst/>
              <a:gdLst/>
              <a:ahLst/>
              <a:cxnLst/>
              <a:rect r="r" b="b" t="t" l="l"/>
              <a:pathLst>
                <a:path h="122555" w="1005332">
                  <a:moveTo>
                    <a:pt x="1005332" y="122555"/>
                  </a:moveTo>
                  <a:lnTo>
                    <a:pt x="0" y="122555"/>
                  </a:lnTo>
                  <a:lnTo>
                    <a:pt x="0" y="0"/>
                  </a:lnTo>
                  <a:lnTo>
                    <a:pt x="1005332" y="0"/>
                  </a:lnTo>
                  <a:lnTo>
                    <a:pt x="1005332" y="122555"/>
                  </a:lnTo>
                  <a:close/>
                </a:path>
              </a:pathLst>
            </a:custGeom>
            <a:solidFill>
              <a:srgbClr val="1A998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11709" y="98898"/>
            <a:ext cx="1568577" cy="1505236"/>
            <a:chOff x="0" y="0"/>
            <a:chExt cx="2091436" cy="20069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91436" cy="2006981"/>
            </a:xfrm>
            <a:custGeom>
              <a:avLst/>
              <a:gdLst/>
              <a:ahLst/>
              <a:cxnLst/>
              <a:rect r="r" b="b" t="t" l="l"/>
              <a:pathLst>
                <a:path h="2006981" w="2091436">
                  <a:moveTo>
                    <a:pt x="0" y="0"/>
                  </a:moveTo>
                  <a:lnTo>
                    <a:pt x="2091436" y="0"/>
                  </a:lnTo>
                  <a:lnTo>
                    <a:pt x="2091436" y="2006981"/>
                  </a:lnTo>
                  <a:lnTo>
                    <a:pt x="0" y="2006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22" t="0" r="-223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719480" y="0"/>
            <a:ext cx="1566005" cy="1547812"/>
            <a:chOff x="0" y="0"/>
            <a:chExt cx="2088007" cy="20637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88007" cy="2063750"/>
            </a:xfrm>
            <a:custGeom>
              <a:avLst/>
              <a:gdLst/>
              <a:ahLst/>
              <a:cxnLst/>
              <a:rect r="r" b="b" t="t" l="l"/>
              <a:pathLst>
                <a:path h="2063750" w="2088007">
                  <a:moveTo>
                    <a:pt x="0" y="0"/>
                  </a:moveTo>
                  <a:lnTo>
                    <a:pt x="2088007" y="0"/>
                  </a:lnTo>
                  <a:lnTo>
                    <a:pt x="2088007" y="2063750"/>
                  </a:lnTo>
                  <a:lnTo>
                    <a:pt x="0" y="2063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84" r="0" b="-184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657188" y="235753"/>
            <a:ext cx="6202070" cy="847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8"/>
              </a:lnSpc>
            </a:pPr>
            <a:r>
              <a:rPr lang="en-US" sz="519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Statistical Analysis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7167" y="1655159"/>
            <a:ext cx="11173225" cy="4429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Statistical Analysis Using Python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used statistical methods to understand numerical healthcare data.</a:t>
            </a:r>
          </a:p>
          <a:p>
            <a:pPr algn="l" marL="731521" indent="-243840" lvl="2">
              <a:lnSpc>
                <a:spcPts val="3840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Measures used:</a:t>
            </a:r>
          </a:p>
          <a:p>
            <a:pPr algn="l" marL="1307256" indent="-326814" lvl="3">
              <a:lnSpc>
                <a:spcPts val="3840"/>
              </a:lnSpc>
              <a:buFont typeface="Arial"/>
              <a:buChar char="￭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 → Average value</a:t>
            </a:r>
          </a:p>
          <a:p>
            <a:pPr algn="l" marL="1307256" indent="-326814" lvl="3">
              <a:lnSpc>
                <a:spcPts val="3840"/>
              </a:lnSpc>
              <a:buFont typeface="Arial"/>
              <a:buChar char="￭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Median → Middle value</a:t>
            </a:r>
          </a:p>
          <a:p>
            <a:pPr algn="l" marL="1307256" indent="-326814" lvl="3">
              <a:lnSpc>
                <a:spcPts val="3840"/>
              </a:lnSpc>
              <a:buFont typeface="Arial"/>
              <a:buChar char="￭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Deviation → Measures variation</a:t>
            </a:r>
          </a:p>
          <a:p>
            <a:pPr algn="l" marL="1307256" indent="-326814" lvl="3">
              <a:lnSpc>
                <a:spcPts val="3840"/>
              </a:lnSpc>
              <a:buFont typeface="Arial"/>
              <a:buChar char="￭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Minimum → Lowest value</a:t>
            </a:r>
          </a:p>
          <a:p>
            <a:pPr algn="l" marL="1307256" indent="-326814" lvl="3">
              <a:lnSpc>
                <a:spcPts val="3840"/>
              </a:lnSpc>
              <a:buFont typeface="Arial"/>
              <a:buChar char="￭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 → Highest value</a:t>
            </a:r>
          </a:p>
          <a:p>
            <a:pPr algn="l" marL="1307256" indent="-326814" lvl="3">
              <a:lnSpc>
                <a:spcPts val="3840"/>
              </a:lnSpc>
              <a:buFont typeface="Arial"/>
              <a:buChar char="￭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→ Total treatment cost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7167" y="6570040"/>
            <a:ext cx="6171019" cy="2000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521" indent="-243840" lvl="2">
              <a:lnSpc>
                <a:spcPts val="3840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</a:p>
          <a:p>
            <a:pPr algn="l" marL="731521" indent="-243840" lvl="2">
              <a:lnSpc>
                <a:spcPts val="3840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df["treatment_cost"].mean()</a:t>
            </a:r>
          </a:p>
          <a:p>
            <a:pPr algn="l" marL="731521" indent="-243840" lvl="2">
              <a:lnSpc>
                <a:spcPts val="3840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df["treatment_cost"].median()</a:t>
            </a:r>
          </a:p>
          <a:p>
            <a:pPr algn="l" marL="731521" indent="-243840" lvl="2">
              <a:lnSpc>
                <a:spcPts val="3840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df["treatment_cost"].std()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952" cy="1702784"/>
            <a:chOff x="0" y="0"/>
            <a:chExt cx="24379936" cy="22703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937" cy="2270379"/>
            </a:xfrm>
            <a:custGeom>
              <a:avLst/>
              <a:gdLst/>
              <a:ahLst/>
              <a:cxnLst/>
              <a:rect r="r" b="b" t="t" l="l"/>
              <a:pathLst>
                <a:path h="2270379" w="24379937">
                  <a:moveTo>
                    <a:pt x="24379937" y="2270379"/>
                  </a:moveTo>
                  <a:lnTo>
                    <a:pt x="0" y="2270379"/>
                  </a:lnTo>
                  <a:lnTo>
                    <a:pt x="0" y="0"/>
                  </a:lnTo>
                  <a:lnTo>
                    <a:pt x="24379937" y="0"/>
                  </a:lnTo>
                  <a:lnTo>
                    <a:pt x="24379937" y="2270379"/>
                  </a:lnTo>
                  <a:close/>
                </a:path>
              </a:pathLst>
            </a:custGeom>
            <a:solidFill>
              <a:srgbClr val="E8EC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404948" y="188843"/>
            <a:ext cx="747617" cy="91916"/>
            <a:chOff x="0" y="0"/>
            <a:chExt cx="996823" cy="1225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96823" cy="122555"/>
            </a:xfrm>
            <a:custGeom>
              <a:avLst/>
              <a:gdLst/>
              <a:ahLst/>
              <a:cxnLst/>
              <a:rect r="r" b="b" t="t" l="l"/>
              <a:pathLst>
                <a:path h="122555" w="996823">
                  <a:moveTo>
                    <a:pt x="996823" y="122555"/>
                  </a:moveTo>
                  <a:lnTo>
                    <a:pt x="0" y="122555"/>
                  </a:lnTo>
                  <a:lnTo>
                    <a:pt x="0" y="0"/>
                  </a:lnTo>
                  <a:lnTo>
                    <a:pt x="996823" y="0"/>
                  </a:lnTo>
                  <a:lnTo>
                    <a:pt x="996823" y="122555"/>
                  </a:lnTo>
                  <a:close/>
                </a:path>
              </a:pathLst>
            </a:custGeom>
            <a:solidFill>
              <a:srgbClr val="EB56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57188" y="188843"/>
            <a:ext cx="753999" cy="91916"/>
            <a:chOff x="0" y="0"/>
            <a:chExt cx="1005332" cy="1225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5332" cy="122555"/>
            </a:xfrm>
            <a:custGeom>
              <a:avLst/>
              <a:gdLst/>
              <a:ahLst/>
              <a:cxnLst/>
              <a:rect r="r" b="b" t="t" l="l"/>
              <a:pathLst>
                <a:path h="122555" w="1005332">
                  <a:moveTo>
                    <a:pt x="1005332" y="122555"/>
                  </a:moveTo>
                  <a:lnTo>
                    <a:pt x="0" y="122555"/>
                  </a:lnTo>
                  <a:lnTo>
                    <a:pt x="0" y="0"/>
                  </a:lnTo>
                  <a:lnTo>
                    <a:pt x="1005332" y="0"/>
                  </a:lnTo>
                  <a:lnTo>
                    <a:pt x="1005332" y="122555"/>
                  </a:lnTo>
                  <a:close/>
                </a:path>
              </a:pathLst>
            </a:custGeom>
            <a:solidFill>
              <a:srgbClr val="1A998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11709" y="98898"/>
            <a:ext cx="1568577" cy="1505236"/>
            <a:chOff x="0" y="0"/>
            <a:chExt cx="2091436" cy="20069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91436" cy="2006981"/>
            </a:xfrm>
            <a:custGeom>
              <a:avLst/>
              <a:gdLst/>
              <a:ahLst/>
              <a:cxnLst/>
              <a:rect r="r" b="b" t="t" l="l"/>
              <a:pathLst>
                <a:path h="2006981" w="2091436">
                  <a:moveTo>
                    <a:pt x="0" y="0"/>
                  </a:moveTo>
                  <a:lnTo>
                    <a:pt x="2091436" y="0"/>
                  </a:lnTo>
                  <a:lnTo>
                    <a:pt x="2091436" y="2006981"/>
                  </a:lnTo>
                  <a:lnTo>
                    <a:pt x="0" y="2006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22" t="0" r="-223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719480" y="0"/>
            <a:ext cx="1566005" cy="1547812"/>
            <a:chOff x="0" y="0"/>
            <a:chExt cx="2088007" cy="20637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88007" cy="2063750"/>
            </a:xfrm>
            <a:custGeom>
              <a:avLst/>
              <a:gdLst/>
              <a:ahLst/>
              <a:cxnLst/>
              <a:rect r="r" b="b" t="t" l="l"/>
              <a:pathLst>
                <a:path h="2063750" w="2088007">
                  <a:moveTo>
                    <a:pt x="0" y="0"/>
                  </a:moveTo>
                  <a:lnTo>
                    <a:pt x="2088007" y="0"/>
                  </a:lnTo>
                  <a:lnTo>
                    <a:pt x="2088007" y="2063750"/>
                  </a:lnTo>
                  <a:lnTo>
                    <a:pt x="0" y="2063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84" r="0" b="-184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0" y="1575559"/>
            <a:ext cx="14268593" cy="841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9"/>
              </a:lnSpc>
            </a:pPr>
            <a:r>
              <a:rPr lang="en-US" sz="306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Treatment Cost Prediction</a:t>
            </a:r>
          </a:p>
          <a:p>
            <a:pPr algn="l" marL="700962" indent="-233654" lvl="2">
              <a:lnSpc>
                <a:spcPts val="3679"/>
              </a:lnSpc>
              <a:buFont typeface="Arial"/>
              <a:buChar char="⚬"/>
            </a:pPr>
            <a:r>
              <a:rPr lang="en-US" sz="306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used Random Forest Regression to predict healthcare-related values.</a:t>
            </a:r>
          </a:p>
          <a:p>
            <a:pPr algn="l" marL="700962" indent="-233654" lvl="2">
              <a:lnSpc>
                <a:spcPts val="3679"/>
              </a:lnSpc>
            </a:pPr>
            <a:r>
              <a:rPr lang="en-US" sz="306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Features</a:t>
            </a:r>
          </a:p>
          <a:p>
            <a:pPr algn="l">
              <a:lnSpc>
                <a:spcPts val="3679"/>
              </a:lnSpc>
            </a:pPr>
            <a:r>
              <a:rPr lang="en-US" sz="306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>
              <a:lnSpc>
                <a:spcPts val="3679"/>
              </a:lnSpc>
            </a:pPr>
          </a:p>
          <a:p>
            <a:pPr algn="l">
              <a:lnSpc>
                <a:spcPts val="3679"/>
              </a:lnSpc>
            </a:pPr>
          </a:p>
          <a:p>
            <a:pPr algn="l">
              <a:lnSpc>
                <a:spcPts val="3679"/>
              </a:lnSpc>
            </a:pPr>
          </a:p>
          <a:p>
            <a:pPr algn="l">
              <a:lnSpc>
                <a:spcPts val="3679"/>
              </a:lnSpc>
            </a:pPr>
          </a:p>
          <a:p>
            <a:pPr algn="l">
              <a:lnSpc>
                <a:spcPts val="3679"/>
              </a:lnSpc>
            </a:pPr>
          </a:p>
          <a:p>
            <a:pPr algn="l">
              <a:lnSpc>
                <a:spcPts val="3679"/>
              </a:lnSpc>
            </a:pPr>
          </a:p>
          <a:p>
            <a:pPr algn="l">
              <a:lnSpc>
                <a:spcPts val="3679"/>
              </a:lnSpc>
            </a:pPr>
          </a:p>
          <a:p>
            <a:pPr algn="l">
              <a:lnSpc>
                <a:spcPts val="3679"/>
              </a:lnSpc>
            </a:pPr>
          </a:p>
          <a:p>
            <a:pPr algn="l">
              <a:lnSpc>
                <a:spcPts val="3679"/>
              </a:lnSpc>
            </a:pPr>
          </a:p>
          <a:p>
            <a:pPr algn="l">
              <a:lnSpc>
                <a:spcPts val="3679"/>
              </a:lnSpc>
            </a:pPr>
          </a:p>
          <a:p>
            <a:pPr algn="l" marL="700962" indent="-233654" lvl="2">
              <a:lnSpc>
                <a:spcPts val="3679"/>
              </a:lnSpc>
            </a:pPr>
          </a:p>
          <a:p>
            <a:pPr algn="l" marL="700962" indent="-233654" lvl="2">
              <a:lnSpc>
                <a:spcPts val="3679"/>
              </a:lnSpc>
              <a:buFont typeface="Arial"/>
              <a:buChar char="⚬"/>
            </a:pPr>
            <a:r>
              <a:rPr lang="en-US" sz="306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</a:p>
          <a:p>
            <a:pPr algn="l" marL="1252708" indent="-313177" lvl="3">
              <a:lnSpc>
                <a:spcPts val="3679"/>
              </a:lnSpc>
              <a:buFont typeface="Arial"/>
              <a:buChar char="￭"/>
            </a:pPr>
            <a:r>
              <a:rPr lang="en-US" sz="306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Predicted Treatment Cost</a:t>
            </a:r>
          </a:p>
          <a:p>
            <a:pPr algn="l" marL="1252708" indent="-313177" lvl="3">
              <a:lnSpc>
                <a:spcPts val="3679"/>
              </a:lnSpc>
              <a:buFont typeface="Arial"/>
              <a:buChar char="￭"/>
            </a:pPr>
            <a:r>
              <a:rPr lang="en-US" sz="306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 combines multiple decision trees to make predictions.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230905" y="2632843"/>
            <a:ext cx="9588884" cy="6053995"/>
            <a:chOff x="0" y="0"/>
            <a:chExt cx="12785179" cy="80719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785217" cy="8071993"/>
            </a:xfrm>
            <a:custGeom>
              <a:avLst/>
              <a:gdLst/>
              <a:ahLst/>
              <a:cxnLst/>
              <a:rect r="r" b="b" t="t" l="l"/>
              <a:pathLst>
                <a:path h="8071993" w="12785217">
                  <a:moveTo>
                    <a:pt x="0" y="0"/>
                  </a:moveTo>
                  <a:lnTo>
                    <a:pt x="12785217" y="0"/>
                  </a:lnTo>
                  <a:lnTo>
                    <a:pt x="12785217" y="8071993"/>
                  </a:lnTo>
                  <a:lnTo>
                    <a:pt x="0" y="80719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672579" y="3126920"/>
            <a:ext cx="3584080" cy="5559918"/>
          </a:xfrm>
          <a:custGeom>
            <a:avLst/>
            <a:gdLst/>
            <a:ahLst/>
            <a:cxnLst/>
            <a:rect r="r" b="b" t="t" l="l"/>
            <a:pathLst>
              <a:path h="5559918" w="3584080">
                <a:moveTo>
                  <a:pt x="0" y="0"/>
                </a:moveTo>
                <a:lnTo>
                  <a:pt x="3584080" y="0"/>
                </a:lnTo>
                <a:lnTo>
                  <a:pt x="3584080" y="5559918"/>
                </a:lnTo>
                <a:lnTo>
                  <a:pt x="0" y="55599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657188" y="235753"/>
            <a:ext cx="9946272" cy="847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8"/>
              </a:lnSpc>
            </a:pPr>
            <a:r>
              <a:rPr lang="en-US" sz="519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Machine Learning for Prediction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952" cy="1702784"/>
            <a:chOff x="0" y="0"/>
            <a:chExt cx="24379936" cy="22703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937" cy="2270379"/>
            </a:xfrm>
            <a:custGeom>
              <a:avLst/>
              <a:gdLst/>
              <a:ahLst/>
              <a:cxnLst/>
              <a:rect r="r" b="b" t="t" l="l"/>
              <a:pathLst>
                <a:path h="2270379" w="24379937">
                  <a:moveTo>
                    <a:pt x="24379937" y="2270379"/>
                  </a:moveTo>
                  <a:lnTo>
                    <a:pt x="0" y="2270379"/>
                  </a:lnTo>
                  <a:lnTo>
                    <a:pt x="0" y="0"/>
                  </a:lnTo>
                  <a:lnTo>
                    <a:pt x="24379937" y="0"/>
                  </a:lnTo>
                  <a:lnTo>
                    <a:pt x="24379937" y="2270379"/>
                  </a:lnTo>
                  <a:close/>
                </a:path>
              </a:pathLst>
            </a:custGeom>
            <a:solidFill>
              <a:srgbClr val="E8EC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404948" y="188843"/>
            <a:ext cx="747617" cy="91916"/>
            <a:chOff x="0" y="0"/>
            <a:chExt cx="996823" cy="1225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96823" cy="122555"/>
            </a:xfrm>
            <a:custGeom>
              <a:avLst/>
              <a:gdLst/>
              <a:ahLst/>
              <a:cxnLst/>
              <a:rect r="r" b="b" t="t" l="l"/>
              <a:pathLst>
                <a:path h="122555" w="996823">
                  <a:moveTo>
                    <a:pt x="996823" y="122555"/>
                  </a:moveTo>
                  <a:lnTo>
                    <a:pt x="0" y="122555"/>
                  </a:lnTo>
                  <a:lnTo>
                    <a:pt x="0" y="0"/>
                  </a:lnTo>
                  <a:lnTo>
                    <a:pt x="996823" y="0"/>
                  </a:lnTo>
                  <a:lnTo>
                    <a:pt x="996823" y="122555"/>
                  </a:lnTo>
                  <a:close/>
                </a:path>
              </a:pathLst>
            </a:custGeom>
            <a:solidFill>
              <a:srgbClr val="EB56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57188" y="188843"/>
            <a:ext cx="753999" cy="91916"/>
            <a:chOff x="0" y="0"/>
            <a:chExt cx="1005332" cy="1225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5332" cy="122555"/>
            </a:xfrm>
            <a:custGeom>
              <a:avLst/>
              <a:gdLst/>
              <a:ahLst/>
              <a:cxnLst/>
              <a:rect r="r" b="b" t="t" l="l"/>
              <a:pathLst>
                <a:path h="122555" w="1005332">
                  <a:moveTo>
                    <a:pt x="1005332" y="122555"/>
                  </a:moveTo>
                  <a:lnTo>
                    <a:pt x="0" y="122555"/>
                  </a:lnTo>
                  <a:lnTo>
                    <a:pt x="0" y="0"/>
                  </a:lnTo>
                  <a:lnTo>
                    <a:pt x="1005332" y="0"/>
                  </a:lnTo>
                  <a:lnTo>
                    <a:pt x="1005332" y="122555"/>
                  </a:lnTo>
                  <a:close/>
                </a:path>
              </a:pathLst>
            </a:custGeom>
            <a:solidFill>
              <a:srgbClr val="1A998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11709" y="98898"/>
            <a:ext cx="1568577" cy="1505236"/>
            <a:chOff x="0" y="0"/>
            <a:chExt cx="2091436" cy="20069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91436" cy="2006981"/>
            </a:xfrm>
            <a:custGeom>
              <a:avLst/>
              <a:gdLst/>
              <a:ahLst/>
              <a:cxnLst/>
              <a:rect r="r" b="b" t="t" l="l"/>
              <a:pathLst>
                <a:path h="2006981" w="2091436">
                  <a:moveTo>
                    <a:pt x="0" y="0"/>
                  </a:moveTo>
                  <a:lnTo>
                    <a:pt x="2091436" y="0"/>
                  </a:lnTo>
                  <a:lnTo>
                    <a:pt x="2091436" y="2006981"/>
                  </a:lnTo>
                  <a:lnTo>
                    <a:pt x="0" y="2006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22" t="0" r="-223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719480" y="0"/>
            <a:ext cx="1566005" cy="1547812"/>
            <a:chOff x="0" y="0"/>
            <a:chExt cx="2088007" cy="20637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88007" cy="2063750"/>
            </a:xfrm>
            <a:custGeom>
              <a:avLst/>
              <a:gdLst/>
              <a:ahLst/>
              <a:cxnLst/>
              <a:rect r="r" b="b" t="t" l="l"/>
              <a:pathLst>
                <a:path h="2063750" w="2088007">
                  <a:moveTo>
                    <a:pt x="0" y="0"/>
                  </a:moveTo>
                  <a:lnTo>
                    <a:pt x="2088007" y="0"/>
                  </a:lnTo>
                  <a:lnTo>
                    <a:pt x="2088007" y="2063750"/>
                  </a:lnTo>
                  <a:lnTo>
                    <a:pt x="0" y="2063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84" r="0" b="-184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657188" y="235753"/>
            <a:ext cx="5694388" cy="847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8"/>
              </a:lnSpc>
            </a:pPr>
            <a:r>
              <a:rPr lang="en-US" sz="519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Results &amp; Findings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92659" y="1655159"/>
            <a:ext cx="7938097" cy="5400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521" indent="-243840" lvl="2">
              <a:lnSpc>
                <a:spcPts val="3840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Implementation</a:t>
            </a:r>
          </a:p>
          <a:p>
            <a:pPr algn="l" marL="731521" indent="-243840" lvl="2">
              <a:lnSpc>
                <a:spcPts val="3840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follows these steps:</a:t>
            </a:r>
          </a:p>
          <a:p>
            <a:pPr algn="l" marL="1307256" indent="-326814" lvl="3">
              <a:lnSpc>
                <a:spcPts val="3840"/>
              </a:lnSpc>
              <a:buFont typeface="Arial"/>
              <a:buChar char="￭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healthcare dataset</a:t>
            </a:r>
          </a:p>
          <a:p>
            <a:pPr algn="l" marL="1307256" indent="-326814" lvl="3">
              <a:lnSpc>
                <a:spcPts val="3840"/>
              </a:lnSpc>
              <a:buFont typeface="Arial"/>
              <a:buChar char="￭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 the data</a:t>
            </a:r>
          </a:p>
          <a:p>
            <a:pPr algn="l" marL="1307256" indent="-326814" lvl="3">
              <a:lnSpc>
                <a:spcPts val="3840"/>
              </a:lnSpc>
              <a:buFont typeface="Arial"/>
              <a:buChar char="￭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 missing/duplicate data</a:t>
            </a:r>
          </a:p>
          <a:p>
            <a:pPr algn="l" marL="1307256" indent="-326814" lvl="3">
              <a:lnSpc>
                <a:spcPts val="3840"/>
              </a:lnSpc>
              <a:buFont typeface="Arial"/>
              <a:buChar char="￭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patient information</a:t>
            </a:r>
          </a:p>
          <a:p>
            <a:pPr algn="l" marL="1307256" indent="-326814" lvl="3">
              <a:lnSpc>
                <a:spcPts val="3840"/>
              </a:lnSpc>
              <a:buFont typeface="Arial"/>
              <a:buChar char="￭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 statistical calculations</a:t>
            </a:r>
          </a:p>
          <a:p>
            <a:pPr algn="l" marL="1307256" indent="-326814" lvl="3">
              <a:lnSpc>
                <a:spcPts val="3840"/>
              </a:lnSpc>
              <a:buFont typeface="Arial"/>
              <a:buChar char="￭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graphs</a:t>
            </a:r>
          </a:p>
          <a:p>
            <a:pPr algn="l" marL="1307256" indent="-326814" lvl="3">
              <a:lnSpc>
                <a:spcPts val="3840"/>
              </a:lnSpc>
              <a:buFont typeface="Arial"/>
              <a:buChar char="￭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relationships between variables</a:t>
            </a:r>
          </a:p>
          <a:p>
            <a:pPr algn="l" marL="1307256" indent="-326814" lvl="3">
              <a:lnSpc>
                <a:spcPts val="3840"/>
              </a:lnSpc>
              <a:buFont typeface="Arial"/>
              <a:buChar char="￭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Machine Learning</a:t>
            </a:r>
          </a:p>
          <a:p>
            <a:pPr algn="l" marL="1307256" indent="-326814" lvl="3">
              <a:lnSpc>
                <a:spcPts val="3840"/>
              </a:lnSpc>
              <a:buFont typeface="Arial"/>
              <a:buChar char="￭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results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1685935"/>
            <a:ext cx="10070306" cy="6857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521" indent="-243840" lvl="2">
              <a:lnSpc>
                <a:spcPts val="3840"/>
              </a:lnSpc>
              <a:buFont typeface="Arial"/>
              <a:buChar char="⚬"/>
            </a:pP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Limitations</a:t>
            </a:r>
          </a:p>
          <a:p>
            <a:pPr algn="l" marL="1307256" indent="-326814" lvl="3">
              <a:lnSpc>
                <a:spcPts val="3840"/>
              </a:lnSpc>
              <a:buFont typeface="Arial"/>
              <a:buChar char="￭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contains limited patient information.</a:t>
            </a:r>
          </a:p>
          <a:p>
            <a:pPr algn="l" marL="1307256" indent="-326814" lvl="3">
              <a:lnSpc>
                <a:spcPts val="3840"/>
              </a:lnSpc>
              <a:buFont typeface="Arial"/>
              <a:buChar char="￭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detailed disease or symptom information.</a:t>
            </a:r>
          </a:p>
          <a:p>
            <a:pPr algn="l" marL="1307256" indent="-326814" lvl="3">
              <a:lnSpc>
                <a:spcPts val="3840"/>
              </a:lnSpc>
              <a:buFont typeface="Arial"/>
              <a:buChar char="￭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 predictions depend on available data quality.</a:t>
            </a:r>
          </a:p>
          <a:p>
            <a:pPr algn="l" marL="1307256" indent="-326814" lvl="3">
              <a:lnSpc>
                <a:spcPts val="3840"/>
              </a:lnSpc>
              <a:buFont typeface="Arial"/>
              <a:buChar char="￭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are based only on the given dataset.</a:t>
            </a:r>
          </a:p>
          <a:p>
            <a:pPr algn="l" marL="731521" indent="-243840" lvl="2">
              <a:lnSpc>
                <a:spcPts val="3840"/>
              </a:lnSpc>
              <a:buFont typeface="Arial"/>
              <a:buChar char="⚬"/>
            </a:pP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Scope</a:t>
            </a:r>
          </a:p>
          <a:p>
            <a:pPr algn="l" marL="1307256" indent="-326814" lvl="3">
              <a:lnSpc>
                <a:spcPts val="3840"/>
              </a:lnSpc>
              <a:buFont typeface="Arial"/>
              <a:buChar char="￭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more patient records</a:t>
            </a:r>
          </a:p>
          <a:p>
            <a:pPr algn="l" marL="1307256" indent="-326814" lvl="3">
              <a:lnSpc>
                <a:spcPts val="3840"/>
              </a:lnSpc>
              <a:buFont typeface="Arial"/>
              <a:buChar char="￭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disease information</a:t>
            </a:r>
          </a:p>
          <a:p>
            <a:pPr algn="l" marL="1307256" indent="-326814" lvl="3">
              <a:lnSpc>
                <a:spcPts val="3840"/>
              </a:lnSpc>
              <a:buFont typeface="Arial"/>
              <a:buChar char="￭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medical test results</a:t>
            </a:r>
          </a:p>
          <a:p>
            <a:pPr algn="l" marL="1307256" indent="-326814" lvl="3">
              <a:lnSpc>
                <a:spcPts val="3840"/>
              </a:lnSpc>
              <a:buFont typeface="Arial"/>
              <a:buChar char="￭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doctor information</a:t>
            </a:r>
          </a:p>
          <a:p>
            <a:pPr algn="l" marL="1307256" indent="-326814" lvl="3">
              <a:lnSpc>
                <a:spcPts val="3840"/>
              </a:lnSpc>
              <a:buFont typeface="Arial"/>
              <a:buChar char="￭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 hospital capacity</a:t>
            </a:r>
          </a:p>
          <a:p>
            <a:pPr algn="l" marL="1307256" indent="-326814" lvl="3">
              <a:lnSpc>
                <a:spcPts val="3840"/>
              </a:lnSpc>
              <a:buFont typeface="Arial"/>
              <a:buChar char="￭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real-time healthcare data</a:t>
            </a:r>
          </a:p>
          <a:p>
            <a:pPr algn="l" marL="1307256" indent="-326814" lvl="3">
              <a:lnSpc>
                <a:spcPts val="3840"/>
              </a:lnSpc>
              <a:buFont typeface="Arial"/>
              <a:buChar char="￭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advanced ML models</a:t>
            </a:r>
          </a:p>
          <a:p>
            <a:pPr algn="l" marL="1307256" indent="-326814" lvl="3">
              <a:lnSpc>
                <a:spcPts val="3840"/>
              </a:lnSpc>
              <a:buFont typeface="Arial"/>
              <a:buChar char="￭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web-based healthcare analytics dashboard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4952" cy="1702784"/>
            <a:chOff x="0" y="0"/>
            <a:chExt cx="24379936" cy="227037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79937" cy="2270379"/>
            </a:xfrm>
            <a:custGeom>
              <a:avLst/>
              <a:gdLst/>
              <a:ahLst/>
              <a:cxnLst/>
              <a:rect r="r" b="b" t="t" l="l"/>
              <a:pathLst>
                <a:path h="2270379" w="24379937">
                  <a:moveTo>
                    <a:pt x="24379937" y="2270379"/>
                  </a:moveTo>
                  <a:lnTo>
                    <a:pt x="0" y="2270379"/>
                  </a:lnTo>
                  <a:lnTo>
                    <a:pt x="0" y="0"/>
                  </a:lnTo>
                  <a:lnTo>
                    <a:pt x="24379937" y="0"/>
                  </a:lnTo>
                  <a:lnTo>
                    <a:pt x="24379937" y="2270379"/>
                  </a:lnTo>
                  <a:close/>
                </a:path>
              </a:pathLst>
            </a:custGeom>
            <a:solidFill>
              <a:srgbClr val="E8ECE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404948" y="188843"/>
            <a:ext cx="747617" cy="91916"/>
            <a:chOff x="0" y="0"/>
            <a:chExt cx="996823" cy="1225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96823" cy="122555"/>
            </a:xfrm>
            <a:custGeom>
              <a:avLst/>
              <a:gdLst/>
              <a:ahLst/>
              <a:cxnLst/>
              <a:rect r="r" b="b" t="t" l="l"/>
              <a:pathLst>
                <a:path h="122555" w="996823">
                  <a:moveTo>
                    <a:pt x="996823" y="122555"/>
                  </a:moveTo>
                  <a:lnTo>
                    <a:pt x="0" y="122555"/>
                  </a:lnTo>
                  <a:lnTo>
                    <a:pt x="0" y="0"/>
                  </a:lnTo>
                  <a:lnTo>
                    <a:pt x="996823" y="0"/>
                  </a:lnTo>
                  <a:lnTo>
                    <a:pt x="996823" y="122555"/>
                  </a:lnTo>
                  <a:close/>
                </a:path>
              </a:pathLst>
            </a:custGeom>
            <a:solidFill>
              <a:srgbClr val="EB56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57188" y="188843"/>
            <a:ext cx="753999" cy="91916"/>
            <a:chOff x="0" y="0"/>
            <a:chExt cx="1005332" cy="1225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5332" cy="122555"/>
            </a:xfrm>
            <a:custGeom>
              <a:avLst/>
              <a:gdLst/>
              <a:ahLst/>
              <a:cxnLst/>
              <a:rect r="r" b="b" t="t" l="l"/>
              <a:pathLst>
                <a:path h="122555" w="1005332">
                  <a:moveTo>
                    <a:pt x="1005332" y="122555"/>
                  </a:moveTo>
                  <a:lnTo>
                    <a:pt x="0" y="122555"/>
                  </a:lnTo>
                  <a:lnTo>
                    <a:pt x="0" y="0"/>
                  </a:lnTo>
                  <a:lnTo>
                    <a:pt x="1005332" y="0"/>
                  </a:lnTo>
                  <a:lnTo>
                    <a:pt x="1005332" y="122555"/>
                  </a:lnTo>
                  <a:close/>
                </a:path>
              </a:pathLst>
            </a:custGeom>
            <a:solidFill>
              <a:srgbClr val="1A9987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-111709" y="98898"/>
            <a:ext cx="1568577" cy="1505236"/>
            <a:chOff x="0" y="0"/>
            <a:chExt cx="2091436" cy="20069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91436" cy="2006981"/>
            </a:xfrm>
            <a:custGeom>
              <a:avLst/>
              <a:gdLst/>
              <a:ahLst/>
              <a:cxnLst/>
              <a:rect r="r" b="b" t="t" l="l"/>
              <a:pathLst>
                <a:path h="2006981" w="2091436">
                  <a:moveTo>
                    <a:pt x="0" y="0"/>
                  </a:moveTo>
                  <a:lnTo>
                    <a:pt x="2091436" y="0"/>
                  </a:lnTo>
                  <a:lnTo>
                    <a:pt x="2091436" y="2006981"/>
                  </a:lnTo>
                  <a:lnTo>
                    <a:pt x="0" y="2006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22" t="0" r="-223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719480" y="0"/>
            <a:ext cx="1566005" cy="1547812"/>
            <a:chOff x="0" y="0"/>
            <a:chExt cx="2088007" cy="20637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88007" cy="2063750"/>
            </a:xfrm>
            <a:custGeom>
              <a:avLst/>
              <a:gdLst/>
              <a:ahLst/>
              <a:cxnLst/>
              <a:rect r="r" b="b" t="t" l="l"/>
              <a:pathLst>
                <a:path h="2063750" w="2088007">
                  <a:moveTo>
                    <a:pt x="0" y="0"/>
                  </a:moveTo>
                  <a:lnTo>
                    <a:pt x="2088007" y="0"/>
                  </a:lnTo>
                  <a:lnTo>
                    <a:pt x="2088007" y="2063750"/>
                  </a:lnTo>
                  <a:lnTo>
                    <a:pt x="0" y="2063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84" r="0" b="-184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657188" y="235753"/>
            <a:ext cx="8413118" cy="847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8"/>
              </a:lnSpc>
            </a:pPr>
            <a:r>
              <a:rPr lang="en-US" sz="519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Limitations &amp; Future Scope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952" cy="1702784"/>
            <a:chOff x="0" y="0"/>
            <a:chExt cx="24379936" cy="22703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937" cy="2270379"/>
            </a:xfrm>
            <a:custGeom>
              <a:avLst/>
              <a:gdLst/>
              <a:ahLst/>
              <a:cxnLst/>
              <a:rect r="r" b="b" t="t" l="l"/>
              <a:pathLst>
                <a:path h="2270379" w="24379937">
                  <a:moveTo>
                    <a:pt x="24379937" y="2270379"/>
                  </a:moveTo>
                  <a:lnTo>
                    <a:pt x="0" y="2270379"/>
                  </a:lnTo>
                  <a:lnTo>
                    <a:pt x="0" y="0"/>
                  </a:lnTo>
                  <a:lnTo>
                    <a:pt x="24379937" y="0"/>
                  </a:lnTo>
                  <a:lnTo>
                    <a:pt x="24379937" y="2270379"/>
                  </a:lnTo>
                  <a:close/>
                </a:path>
              </a:pathLst>
            </a:custGeom>
            <a:solidFill>
              <a:srgbClr val="E8EC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404948" y="188843"/>
            <a:ext cx="747617" cy="91916"/>
            <a:chOff x="0" y="0"/>
            <a:chExt cx="996823" cy="1225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96823" cy="122555"/>
            </a:xfrm>
            <a:custGeom>
              <a:avLst/>
              <a:gdLst/>
              <a:ahLst/>
              <a:cxnLst/>
              <a:rect r="r" b="b" t="t" l="l"/>
              <a:pathLst>
                <a:path h="122555" w="996823">
                  <a:moveTo>
                    <a:pt x="996823" y="122555"/>
                  </a:moveTo>
                  <a:lnTo>
                    <a:pt x="0" y="122555"/>
                  </a:lnTo>
                  <a:lnTo>
                    <a:pt x="0" y="0"/>
                  </a:lnTo>
                  <a:lnTo>
                    <a:pt x="996823" y="0"/>
                  </a:lnTo>
                  <a:lnTo>
                    <a:pt x="996823" y="122555"/>
                  </a:lnTo>
                  <a:close/>
                </a:path>
              </a:pathLst>
            </a:custGeom>
            <a:solidFill>
              <a:srgbClr val="EB56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57188" y="188843"/>
            <a:ext cx="753999" cy="91916"/>
            <a:chOff x="0" y="0"/>
            <a:chExt cx="1005332" cy="1225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5332" cy="122555"/>
            </a:xfrm>
            <a:custGeom>
              <a:avLst/>
              <a:gdLst/>
              <a:ahLst/>
              <a:cxnLst/>
              <a:rect r="r" b="b" t="t" l="l"/>
              <a:pathLst>
                <a:path h="122555" w="1005332">
                  <a:moveTo>
                    <a:pt x="1005332" y="122555"/>
                  </a:moveTo>
                  <a:lnTo>
                    <a:pt x="0" y="122555"/>
                  </a:lnTo>
                  <a:lnTo>
                    <a:pt x="0" y="0"/>
                  </a:lnTo>
                  <a:lnTo>
                    <a:pt x="1005332" y="0"/>
                  </a:lnTo>
                  <a:lnTo>
                    <a:pt x="1005332" y="122555"/>
                  </a:lnTo>
                  <a:close/>
                </a:path>
              </a:pathLst>
            </a:custGeom>
            <a:solidFill>
              <a:srgbClr val="1A998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11709" y="98898"/>
            <a:ext cx="1568577" cy="1505236"/>
            <a:chOff x="0" y="0"/>
            <a:chExt cx="2091436" cy="20069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91436" cy="2006981"/>
            </a:xfrm>
            <a:custGeom>
              <a:avLst/>
              <a:gdLst/>
              <a:ahLst/>
              <a:cxnLst/>
              <a:rect r="r" b="b" t="t" l="l"/>
              <a:pathLst>
                <a:path h="2006981" w="2091436">
                  <a:moveTo>
                    <a:pt x="0" y="0"/>
                  </a:moveTo>
                  <a:lnTo>
                    <a:pt x="2091436" y="0"/>
                  </a:lnTo>
                  <a:lnTo>
                    <a:pt x="2091436" y="2006981"/>
                  </a:lnTo>
                  <a:lnTo>
                    <a:pt x="0" y="2006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22" t="0" r="-223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719480" y="0"/>
            <a:ext cx="1566005" cy="1547812"/>
            <a:chOff x="0" y="0"/>
            <a:chExt cx="2088007" cy="20637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88007" cy="2063750"/>
            </a:xfrm>
            <a:custGeom>
              <a:avLst/>
              <a:gdLst/>
              <a:ahLst/>
              <a:cxnLst/>
              <a:rect r="r" b="b" t="t" l="l"/>
              <a:pathLst>
                <a:path h="2063750" w="2088007">
                  <a:moveTo>
                    <a:pt x="0" y="0"/>
                  </a:moveTo>
                  <a:lnTo>
                    <a:pt x="2088007" y="0"/>
                  </a:lnTo>
                  <a:lnTo>
                    <a:pt x="2088007" y="2063750"/>
                  </a:lnTo>
                  <a:lnTo>
                    <a:pt x="0" y="2063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84" r="0" b="-184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657188" y="235753"/>
            <a:ext cx="4266514" cy="847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8"/>
              </a:lnSpc>
            </a:pPr>
            <a:r>
              <a:rPr lang="en-US" sz="519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3211" y="1655159"/>
            <a:ext cx="17167127" cy="297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  <a:p>
            <a:pPr algn="l" marL="731521" indent="-243840" lvl="2">
              <a:lnSpc>
                <a:spcPts val="3840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Healthcare Analytics demonstrates how Python can be used to solve a real-world healthcare problem.</a:t>
            </a:r>
          </a:p>
          <a:p>
            <a:pPr algn="l" marL="731521" indent="-243840" lvl="2">
              <a:lnSpc>
                <a:spcPts val="3840"/>
              </a:lnSpc>
            </a:pP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project used:</a:t>
            </a:r>
          </a:p>
          <a:p>
            <a:pPr algn="l" marL="731521" indent="-243840" lvl="2">
              <a:lnSpc>
                <a:spcPts val="3840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Pandas + NumPy + Matplotlib + Seaborn + SciPy + Scikit-learn</a:t>
            </a:r>
          </a:p>
          <a:p>
            <a:pPr algn="l" marL="731521" indent="-243840" lvl="2">
              <a:lnSpc>
                <a:spcPts val="3840"/>
              </a:lnSpc>
            </a:pP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 analyzed:</a:t>
            </a:r>
          </a:p>
          <a:p>
            <a:pPr algn="l" marL="731521" indent="-243840" lvl="2">
              <a:lnSpc>
                <a:spcPts val="3840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Patients → Departments → Treatments → Visits → Hospital Stay → Treatment Costs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3211" y="5563891"/>
            <a:ext cx="16286870" cy="1971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📚 </a:t>
            </a:r>
            <a:r>
              <a:rPr lang="en-US" sz="3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References: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Dataset: [`healthcare_patient_analytics.csv`]</a:t>
            </a:r>
            <a:r>
              <a:rPr lang="en-US" sz="3200">
                <a:solidFill>
                  <a:srgbClr val="3967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healthcare_patient_analytics.csv 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 Repository: [Healthcare Analytics Repository](</a:t>
            </a:r>
            <a:r>
              <a:rPr lang="en-US" sz="3200">
                <a:solidFill>
                  <a:srgbClr val="3967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https://github.com/jeelmoradiya078-lgtm/CIPAT-Healthcare-Analytics.git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DAHWc3ewydk</dc:identifier>
  <dcterms:modified xsi:type="dcterms:W3CDTF">2011-08-01T06:04:30Z</dcterms:modified>
  <cp:revision>1</cp:revision>
  <dc:title>240090107087.pptx (1).pptx</dc:title>
</cp:coreProperties>
</file>